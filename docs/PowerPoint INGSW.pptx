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4" r:id="rId4"/>
  </p:sldMasterIdLst>
  <p:sldIdLst>
    <p:sldId id="256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57" r:id="rId14"/>
    <p:sldId id="258" r:id="rId15"/>
    <p:sldId id="260" r:id="rId16"/>
    <p:sldId id="259" r:id="rId17"/>
    <p:sldId id="261" r:id="rId18"/>
    <p:sldId id="272" r:id="rId19"/>
    <p:sldId id="273" r:id="rId20"/>
    <p:sldId id="274" r:id="rId21"/>
    <p:sldId id="275" r:id="rId22"/>
    <p:sldId id="276" r:id="rId23"/>
    <p:sldId id="262" r:id="rId24"/>
    <p:sldId id="277" r:id="rId25"/>
    <p:sldId id="278" r:id="rId26"/>
    <p:sldId id="279" r:id="rId27"/>
    <p:sldId id="280" r:id="rId28"/>
    <p:sldId id="26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3222B-5C80-4A09-91AC-DFB166092B72}" v="118" dt="2026-08-25T15:40:02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81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486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257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783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816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787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500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119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391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363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260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14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003B3C1-620F-4836-A692-64B8294723FB}" type="datetimeFigureOut">
              <a:rPr lang="it-IT" smtClean="0"/>
              <a:t>04/09/2026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9A23D8-D2A2-4B03-813A-0DF3C7DD1DD9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54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5" r:id="rId1"/>
    <p:sldLayoutId id="2147484536" r:id="rId2"/>
    <p:sldLayoutId id="2147484537" r:id="rId3"/>
    <p:sldLayoutId id="2147484538" r:id="rId4"/>
    <p:sldLayoutId id="2147484539" r:id="rId5"/>
    <p:sldLayoutId id="2147484540" r:id="rId6"/>
    <p:sldLayoutId id="2147484541" r:id="rId7"/>
    <p:sldLayoutId id="2147484542" r:id="rId8"/>
    <p:sldLayoutId id="2147484543" r:id="rId9"/>
    <p:sldLayoutId id="2147484544" r:id="rId10"/>
    <p:sldLayoutId id="2147484545" r:id="rId11"/>
    <p:sldLayoutId id="2147484546" r:id="rId12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magine 32">
            <a:extLst>
              <a:ext uri="{FF2B5EF4-FFF2-40B4-BE49-F238E27FC236}">
                <a16:creationId xmlns:a16="http://schemas.microsoft.com/office/drawing/2014/main" id="{9D138AC5-F27F-B83A-75CE-781F6E04B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17" r="2" b="29009"/>
          <a:stretch>
            <a:fillRect/>
          </a:stretch>
        </p:blipFill>
        <p:spPr>
          <a:xfrm>
            <a:off x="0" y="3499594"/>
            <a:ext cx="8955625" cy="3358406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737795AC-F6C7-CE8B-A547-F63F6EDC1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947" y="598860"/>
            <a:ext cx="6502041" cy="435169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535C744-4D79-1950-3040-DE860890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417" y="820420"/>
            <a:ext cx="3445401" cy="9748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2800" b="1" dirty="0">
                <a:solidFill>
                  <a:schemeClr val="tx2"/>
                </a:solidFill>
              </a:rPr>
              <a:t>BugBoard26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6EA8F06F-24DB-EABB-ED16-881F103535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4417" y="1837379"/>
            <a:ext cx="4263383" cy="4768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sz="2000" dirty="0"/>
              <a:t>Un sistema moderno di </a:t>
            </a:r>
            <a:r>
              <a:rPr lang="it-IT" sz="2000" dirty="0" err="1"/>
              <a:t>Issue</a:t>
            </a:r>
            <a:r>
              <a:rPr lang="it-IT" sz="2000" dirty="0"/>
              <a:t> Tracking</a:t>
            </a:r>
            <a:endParaRPr lang="en-US" sz="2000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365EEF5-5E7A-A0E7-FE0E-6E685035B574}"/>
              </a:ext>
            </a:extLst>
          </p:cNvPr>
          <p:cNvSpPr txBox="1"/>
          <p:nvPr/>
        </p:nvSpPr>
        <p:spPr>
          <a:xfrm>
            <a:off x="594417" y="2356316"/>
            <a:ext cx="4019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it-IT" b="1" dirty="0">
                <a:solidFill>
                  <a:schemeClr val="tx2"/>
                </a:solidFill>
              </a:rPr>
              <a:t>Progetto di Ingegneria del Software</a:t>
            </a:r>
          </a:p>
          <a:p>
            <a:pPr lvl="0"/>
            <a:r>
              <a:rPr lang="it-IT" b="1" dirty="0">
                <a:solidFill>
                  <a:schemeClr val="tx2"/>
                </a:solidFill>
              </a:rPr>
              <a:t>Candidato: Salvatore Indolino</a:t>
            </a:r>
          </a:p>
          <a:p>
            <a:pPr lvl="0"/>
            <a:r>
              <a:rPr lang="it-IT" b="1" dirty="0">
                <a:solidFill>
                  <a:schemeClr val="tx2"/>
                </a:solidFill>
              </a:rPr>
              <a:t>Matricola: N86004753</a:t>
            </a:r>
          </a:p>
          <a:p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55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7846B5-65B8-1E20-CBBC-BC67BF2C3F6D}"/>
              </a:ext>
            </a:extLst>
          </p:cNvPr>
          <p:cNvSpPr txBox="1"/>
          <p:nvPr/>
        </p:nvSpPr>
        <p:spPr>
          <a:xfrm>
            <a:off x="486907" y="1070379"/>
            <a:ext cx="15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chemeClr val="tx2"/>
                </a:solidFill>
                <a:latin typeface="+mj-lt"/>
              </a:rPr>
              <a:t>INDICE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BFB8B22-2961-374F-44B4-2AD64E1A297E}"/>
              </a:ext>
            </a:extLst>
          </p:cNvPr>
          <p:cNvSpPr txBox="1"/>
          <p:nvPr/>
        </p:nvSpPr>
        <p:spPr>
          <a:xfrm>
            <a:off x="1835353" y="1756154"/>
            <a:ext cx="32748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tx2"/>
                </a:solidFill>
              </a:rPr>
              <a:t>1. </a:t>
            </a:r>
            <a:r>
              <a:rPr lang="it-IT" b="1" dirty="0" err="1">
                <a:solidFill>
                  <a:schemeClr val="tx2"/>
                </a:solidFill>
              </a:rPr>
              <a:t>Requirements</a:t>
            </a:r>
            <a:r>
              <a:rPr lang="it-IT" b="1" dirty="0">
                <a:solidFill>
                  <a:schemeClr val="tx2"/>
                </a:solidFill>
              </a:rPr>
              <a:t>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2"/>
                </a:solidFill>
              </a:rPr>
              <a:t>Personas</a:t>
            </a:r>
            <a:endParaRPr lang="it-IT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Use Case </a:t>
            </a:r>
            <a:r>
              <a:rPr lang="it-IT" dirty="0" err="1">
                <a:solidFill>
                  <a:schemeClr val="tx2"/>
                </a:solidFill>
              </a:rPr>
              <a:t>Diagram</a:t>
            </a:r>
            <a:endParaRPr lang="it-IT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2"/>
                </a:solidFill>
              </a:rPr>
              <a:t>Cockburn’s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table</a:t>
            </a:r>
            <a:endParaRPr lang="it-IT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2"/>
                </a:solidFill>
              </a:rPr>
              <a:t>Mockups</a:t>
            </a:r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16F942E-4E2E-B544-DA72-F6C1BEB360DA}"/>
              </a:ext>
            </a:extLst>
          </p:cNvPr>
          <p:cNvSpPr txBox="1"/>
          <p:nvPr/>
        </p:nvSpPr>
        <p:spPr>
          <a:xfrm>
            <a:off x="1835353" y="3747050"/>
            <a:ext cx="27244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tx2"/>
                </a:solidFill>
              </a:rPr>
              <a:t>2. System &amp; UI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Architettura del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Persistenza dei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2"/>
                </a:solidFill>
              </a:rPr>
              <a:t>Ui</a:t>
            </a:r>
            <a:r>
              <a:rPr lang="it-IT" dirty="0">
                <a:solidFill>
                  <a:schemeClr val="tx2"/>
                </a:solidFill>
              </a:rPr>
              <a:t>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Scelte tecnologiche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87CC8F-97AA-6718-FFEB-65C6688DCF06}"/>
              </a:ext>
            </a:extLst>
          </p:cNvPr>
          <p:cNvSpPr txBox="1"/>
          <p:nvPr/>
        </p:nvSpPr>
        <p:spPr>
          <a:xfrm>
            <a:off x="5860473" y="1756154"/>
            <a:ext cx="30554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tx2"/>
                </a:solidFill>
              </a:rPr>
              <a:t>3. </a:t>
            </a:r>
            <a:r>
              <a:rPr lang="it-IT" b="1" dirty="0" err="1">
                <a:solidFill>
                  <a:schemeClr val="tx2"/>
                </a:solidFill>
              </a:rPr>
              <a:t>Implementation</a:t>
            </a:r>
            <a:endParaRPr lang="it-IT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Strumenti di </a:t>
            </a:r>
            <a:r>
              <a:rPr lang="it-IT" dirty="0" err="1">
                <a:solidFill>
                  <a:schemeClr val="tx2"/>
                </a:solidFill>
              </a:rPr>
              <a:t>versioning</a:t>
            </a:r>
            <a:r>
              <a:rPr lang="it-IT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Report di qualità del codice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Documentazione e containerizzazione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E8CD835-6725-0E79-114A-892CA81CF737}"/>
              </a:ext>
            </a:extLst>
          </p:cNvPr>
          <p:cNvSpPr txBox="1"/>
          <p:nvPr/>
        </p:nvSpPr>
        <p:spPr>
          <a:xfrm>
            <a:off x="5860473" y="3747050"/>
            <a:ext cx="36952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tx2"/>
                </a:solidFill>
              </a:rPr>
              <a:t>4. Testing &amp; Valutazione Usabilità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Test Black-Box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2"/>
                </a:solidFill>
              </a:rPr>
              <a:t>Test di Unità Automatici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2"/>
                </a:solidFill>
              </a:rPr>
              <a:t>Usability</a:t>
            </a:r>
            <a:r>
              <a:rPr lang="it-IT" dirty="0">
                <a:solidFill>
                  <a:schemeClr val="tx2"/>
                </a:solidFill>
              </a:rPr>
              <a:t> Testing</a:t>
            </a:r>
          </a:p>
        </p:txBody>
      </p:sp>
    </p:spTree>
    <p:extLst>
      <p:ext uri="{BB962C8B-B14F-4D97-AF65-F5344CB8AC3E}">
        <p14:creationId xmlns:p14="http://schemas.microsoft.com/office/powerpoint/2010/main" val="216128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C2B5F5-651F-6744-D8CC-884710A50B04}"/>
              </a:ext>
            </a:extLst>
          </p:cNvPr>
          <p:cNvSpPr txBox="1"/>
          <p:nvPr/>
        </p:nvSpPr>
        <p:spPr>
          <a:xfrm>
            <a:off x="4449960" y="1507414"/>
            <a:ext cx="7295507" cy="3703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Requirement Engineering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949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1C4B793-0E74-A9AA-5329-8A1428892414}"/>
              </a:ext>
            </a:extLst>
          </p:cNvPr>
          <p:cNvSpPr txBox="1"/>
          <p:nvPr/>
        </p:nvSpPr>
        <p:spPr>
          <a:xfrm>
            <a:off x="1005424" y="1450663"/>
            <a:ext cx="5120255" cy="39033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Stakeholders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39E3DA0-8889-6024-D73A-D4A86851077F}"/>
              </a:ext>
            </a:extLst>
          </p:cNvPr>
          <p:cNvSpPr txBox="1"/>
          <p:nvPr/>
        </p:nvSpPr>
        <p:spPr>
          <a:xfrm>
            <a:off x="1447800" y="2479000"/>
            <a:ext cx="8132618" cy="1587310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La prima </a:t>
            </a:r>
            <a:r>
              <a:rPr lang="en-US" sz="2000" dirty="0" err="1">
                <a:solidFill>
                  <a:schemeClr val="tx2"/>
                </a:solidFill>
              </a:rPr>
              <a:t>analisi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dei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requisiti</a:t>
            </a:r>
            <a:r>
              <a:rPr lang="en-US" sz="2000" dirty="0">
                <a:solidFill>
                  <a:schemeClr val="tx2"/>
                </a:solidFill>
              </a:rPr>
              <a:t> è </a:t>
            </a:r>
            <a:r>
              <a:rPr lang="en-US" sz="2000" dirty="0" err="1">
                <a:solidFill>
                  <a:schemeClr val="tx2"/>
                </a:solidFill>
              </a:rPr>
              <a:t>stata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effettuata</a:t>
            </a:r>
            <a:r>
              <a:rPr lang="en-US" sz="2000" dirty="0">
                <a:solidFill>
                  <a:schemeClr val="tx2"/>
                </a:solidFill>
              </a:rPr>
              <a:t> a </a:t>
            </a:r>
            <a:r>
              <a:rPr lang="en-US" sz="2000" dirty="0" err="1">
                <a:solidFill>
                  <a:schemeClr val="tx2"/>
                </a:solidFill>
              </a:rPr>
              <a:t>partire</a:t>
            </a:r>
            <a:r>
              <a:rPr lang="en-US" sz="2000" dirty="0">
                <a:solidFill>
                  <a:schemeClr val="tx2"/>
                </a:solidFill>
              </a:rPr>
              <a:t> dal </a:t>
            </a:r>
            <a:r>
              <a:rPr lang="en-US" sz="2000" b="1" dirty="0" err="1">
                <a:solidFill>
                  <a:schemeClr val="tx2"/>
                </a:solidFill>
              </a:rPr>
              <a:t>documento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fornito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dagli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Stakeholders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che</a:t>
            </a:r>
            <a:r>
              <a:rPr lang="en-US" sz="2000" dirty="0">
                <a:solidFill>
                  <a:schemeClr val="tx2"/>
                </a:solidFill>
              </a:rPr>
              <a:t> ne ha </a:t>
            </a:r>
            <a:r>
              <a:rPr lang="en-US" sz="2000" dirty="0" err="1">
                <a:solidFill>
                  <a:schemeClr val="tx2"/>
                </a:solidFill>
              </a:rPr>
              <a:t>rappresentato</a:t>
            </a:r>
            <a:r>
              <a:rPr lang="en-US" sz="2000" dirty="0">
                <a:solidFill>
                  <a:schemeClr val="tx2"/>
                </a:solidFill>
              </a:rPr>
              <a:t> la base per la loro </a:t>
            </a:r>
            <a:r>
              <a:rPr lang="en-US" sz="2000" dirty="0" err="1">
                <a:solidFill>
                  <a:schemeClr val="tx2"/>
                </a:solidFill>
              </a:rPr>
              <a:t>estrazione</a:t>
            </a:r>
            <a:r>
              <a:rPr lang="en-US" sz="20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224E80-FA63-7A9C-B17D-20B92BCF0673}"/>
              </a:ext>
            </a:extLst>
          </p:cNvPr>
          <p:cNvSpPr txBox="1"/>
          <p:nvPr/>
        </p:nvSpPr>
        <p:spPr>
          <a:xfrm>
            <a:off x="1447800" y="3705476"/>
            <a:ext cx="9162922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it-IT" sz="2000" dirty="0">
                <a:solidFill>
                  <a:schemeClr val="tx2"/>
                </a:solidFill>
              </a:rPr>
              <a:t>L’elaborato è stato analizzato per individuare </a:t>
            </a:r>
            <a:r>
              <a:rPr lang="it-IT" sz="2000" b="1" dirty="0">
                <a:solidFill>
                  <a:schemeClr val="tx2"/>
                </a:solidFill>
              </a:rPr>
              <a:t>attori</a:t>
            </a:r>
            <a:r>
              <a:rPr lang="it-IT" sz="2000" dirty="0">
                <a:solidFill>
                  <a:schemeClr val="tx2"/>
                </a:solidFill>
              </a:rPr>
              <a:t> e </a:t>
            </a:r>
            <a:r>
              <a:rPr lang="it-IT" sz="2000" b="1" dirty="0">
                <a:solidFill>
                  <a:schemeClr val="tx2"/>
                </a:solidFill>
              </a:rPr>
              <a:t>scenari d’interazione</a:t>
            </a:r>
            <a:r>
              <a:rPr lang="it-IT" sz="2000" dirty="0">
                <a:solidFill>
                  <a:schemeClr val="tx2"/>
                </a:solidFill>
              </a:rPr>
              <a:t>, successivamente rappresentati attraverso </a:t>
            </a:r>
            <a:r>
              <a:rPr lang="it-IT" sz="2000" b="1" dirty="0">
                <a:solidFill>
                  <a:schemeClr val="tx2"/>
                </a:solidFill>
              </a:rPr>
              <a:t>casi d’uso UML </a:t>
            </a:r>
            <a:r>
              <a:rPr lang="it-IT" sz="2000" dirty="0">
                <a:solidFill>
                  <a:schemeClr val="tx2"/>
                </a:solidFill>
              </a:rPr>
              <a:t>e accompagnati dalla definizione di </a:t>
            </a:r>
            <a:r>
              <a:rPr lang="it-IT" sz="2000" b="1" dirty="0">
                <a:solidFill>
                  <a:schemeClr val="tx2"/>
                </a:solidFill>
              </a:rPr>
              <a:t>user </a:t>
            </a:r>
            <a:r>
              <a:rPr lang="it-IT" sz="2000" b="1" dirty="0" err="1">
                <a:solidFill>
                  <a:schemeClr val="tx2"/>
                </a:solidFill>
              </a:rPr>
              <a:t>personas</a:t>
            </a:r>
            <a:r>
              <a:rPr lang="it-IT" sz="2000" b="1" dirty="0">
                <a:solidFill>
                  <a:schemeClr val="tx2"/>
                </a:solidFill>
              </a:rPr>
              <a:t> </a:t>
            </a:r>
            <a:r>
              <a:rPr lang="it-IT" sz="2000" dirty="0">
                <a:solidFill>
                  <a:schemeClr val="tx2"/>
                </a:solidFill>
              </a:rPr>
              <a:t>per caratterizzare i diversi archetipi di utilizzatori.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33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4E03DE-1C4E-4337-B54B-247C1E94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94D67D7-5975-0D40-2D7E-3C4926018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050" y="173265"/>
            <a:ext cx="4477218" cy="3839215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4AD818E9-2385-1A46-5369-9721672B4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34" y="173265"/>
            <a:ext cx="4477216" cy="3839213"/>
          </a:xfrm>
          <a:prstGeom prst="rect">
            <a:avLst/>
          </a:prstGeom>
        </p:spPr>
      </p:pic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D013328-BD46-7600-93F5-E0D0CAD3C40E}"/>
              </a:ext>
            </a:extLst>
          </p:cNvPr>
          <p:cNvSpPr txBox="1"/>
          <p:nvPr/>
        </p:nvSpPr>
        <p:spPr>
          <a:xfrm>
            <a:off x="679600" y="4596992"/>
            <a:ext cx="3353432" cy="160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User Personas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28CB25-75FB-FE98-3A81-37722AF89F23}"/>
              </a:ext>
            </a:extLst>
          </p:cNvPr>
          <p:cNvSpPr txBox="1"/>
          <p:nvPr/>
        </p:nvSpPr>
        <p:spPr>
          <a:xfrm>
            <a:off x="4271491" y="4596992"/>
            <a:ext cx="7240909" cy="1607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 È </a:t>
            </a:r>
            <a:r>
              <a:rPr lang="en-US" dirty="0" err="1">
                <a:solidFill>
                  <a:schemeClr val="tx2"/>
                </a:solidFill>
              </a:rPr>
              <a:t>stato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possibile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definire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rappresentazioni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archetipiche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che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descrivono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bisogni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obiettivi</a:t>
            </a:r>
            <a:r>
              <a:rPr lang="en-US" dirty="0">
                <a:solidFill>
                  <a:schemeClr val="tx2"/>
                </a:solidFill>
              </a:rPr>
              <a:t> e </a:t>
            </a:r>
            <a:r>
              <a:rPr lang="en-US" dirty="0" err="1">
                <a:solidFill>
                  <a:schemeClr val="tx2"/>
                </a:solidFill>
              </a:rPr>
              <a:t>comportamenti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tipici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fornendo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una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guida</a:t>
            </a:r>
            <a:r>
              <a:rPr lang="en-US" dirty="0">
                <a:solidFill>
                  <a:schemeClr val="tx2"/>
                </a:solidFill>
              </a:rPr>
              <a:t> per </a:t>
            </a:r>
            <a:r>
              <a:rPr lang="en-US" dirty="0" err="1">
                <a:solidFill>
                  <a:schemeClr val="tx2"/>
                </a:solidFill>
              </a:rPr>
              <a:t>decisioni</a:t>
            </a:r>
            <a:r>
              <a:rPr lang="en-US" dirty="0">
                <a:solidFill>
                  <a:schemeClr val="tx2"/>
                </a:solidFill>
              </a:rPr>
              <a:t> di design</a:t>
            </a:r>
          </a:p>
        </p:txBody>
      </p:sp>
    </p:spTree>
    <p:extLst>
      <p:ext uri="{BB962C8B-B14F-4D97-AF65-F5344CB8AC3E}">
        <p14:creationId xmlns:p14="http://schemas.microsoft.com/office/powerpoint/2010/main" val="4143572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E5E56D-6F41-63EC-45E7-B82D672D1F3A}"/>
              </a:ext>
            </a:extLst>
          </p:cNvPr>
          <p:cNvSpPr txBox="1"/>
          <p:nvPr/>
        </p:nvSpPr>
        <p:spPr>
          <a:xfrm>
            <a:off x="1069543" y="1593645"/>
            <a:ext cx="3412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chemeClr val="tx2"/>
                </a:solidFill>
                <a:latin typeface="+mj-lt"/>
              </a:rPr>
              <a:t>Use Case </a:t>
            </a:r>
            <a:r>
              <a:rPr lang="it-IT" sz="2800" b="1" dirty="0" err="1">
                <a:solidFill>
                  <a:schemeClr val="tx2"/>
                </a:solidFill>
                <a:latin typeface="+mj-lt"/>
              </a:rPr>
              <a:t>Diagram</a:t>
            </a:r>
            <a:r>
              <a:rPr lang="it-IT" sz="2800" b="1" dirty="0">
                <a:solidFill>
                  <a:schemeClr val="tx2"/>
                </a:solidFill>
                <a:latin typeface="+mj-lt"/>
              </a:rPr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3B4AB0-5B81-B059-F2EC-1DE290527F29}"/>
              </a:ext>
            </a:extLst>
          </p:cNvPr>
          <p:cNvSpPr txBox="1"/>
          <p:nvPr/>
        </p:nvSpPr>
        <p:spPr>
          <a:xfrm>
            <a:off x="983347" y="2828835"/>
            <a:ext cx="3718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Diagrammi UML </a:t>
            </a:r>
            <a:r>
              <a:rPr lang="it-IT" dirty="0"/>
              <a:t>per modellare le interazioni con l’</a:t>
            </a:r>
            <a:r>
              <a:rPr lang="it-IT" b="1" dirty="0"/>
              <a:t>obiettivo</a:t>
            </a:r>
            <a:r>
              <a:rPr lang="it-IT" dirty="0"/>
              <a:t> di rappresentare </a:t>
            </a:r>
            <a:r>
              <a:rPr lang="it-IT" b="1" dirty="0"/>
              <a:t>attori</a:t>
            </a:r>
            <a:r>
              <a:rPr lang="it-IT" dirty="0"/>
              <a:t> e </a:t>
            </a:r>
            <a:r>
              <a:rPr lang="it-IT" b="1" dirty="0"/>
              <a:t>scenari principali</a:t>
            </a:r>
            <a:r>
              <a:rPr lang="it-IT" dirty="0"/>
              <a:t>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8BA5F41-D884-40D0-E084-5ED2D16D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45" y="1449101"/>
            <a:ext cx="6208253" cy="44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CF32BD-79F0-513B-E15B-BF25DF07092A}"/>
              </a:ext>
            </a:extLst>
          </p:cNvPr>
          <p:cNvSpPr txBox="1"/>
          <p:nvPr/>
        </p:nvSpPr>
        <p:spPr>
          <a:xfrm>
            <a:off x="1442175" y="1644692"/>
            <a:ext cx="3005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solidFill>
                  <a:schemeClr val="tx2"/>
                </a:solidFill>
              </a:rPr>
              <a:t>Cockburn’s</a:t>
            </a:r>
            <a:r>
              <a:rPr lang="it-IT" sz="2800" b="1" dirty="0">
                <a:solidFill>
                  <a:schemeClr val="tx2"/>
                </a:solidFill>
              </a:rPr>
              <a:t> </a:t>
            </a:r>
            <a:r>
              <a:rPr lang="it-IT" sz="2800" b="1" dirty="0" err="1">
                <a:solidFill>
                  <a:schemeClr val="tx2"/>
                </a:solidFill>
              </a:rPr>
              <a:t>table</a:t>
            </a:r>
            <a:endParaRPr lang="it-IT" sz="2800" b="1" dirty="0">
              <a:solidFill>
                <a:schemeClr val="tx2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CC77AD0-6FC3-E7E4-B954-F535935353B9}"/>
              </a:ext>
            </a:extLst>
          </p:cNvPr>
          <p:cNvSpPr txBox="1"/>
          <p:nvPr/>
        </p:nvSpPr>
        <p:spPr>
          <a:xfrm>
            <a:off x="1442175" y="2598003"/>
            <a:ext cx="6434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descrivere in modo dettagliato 2 casi d’uso e </a:t>
            </a:r>
            <a:r>
              <a:rPr lang="it-IT" b="1" dirty="0"/>
              <a:t>specificare le interazioni tra attori e sistema</a:t>
            </a:r>
            <a:r>
              <a:rPr lang="it-IT" dirty="0"/>
              <a:t>, è stata utilizzata una rappresentazione </a:t>
            </a:r>
            <a:r>
              <a:rPr lang="it-IT" b="1" dirty="0" err="1"/>
              <a:t>Fully</a:t>
            </a:r>
            <a:r>
              <a:rPr lang="it-IT" b="1" dirty="0"/>
              <a:t> </a:t>
            </a:r>
            <a:r>
              <a:rPr lang="it-IT" b="1" dirty="0" err="1"/>
              <a:t>Dressed</a:t>
            </a:r>
            <a:r>
              <a:rPr lang="it-IT" dirty="0"/>
              <a:t>, così da documentare: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3B49C1B-EA9D-08A3-D7DA-A6E1B5B58D7F}"/>
              </a:ext>
            </a:extLst>
          </p:cNvPr>
          <p:cNvSpPr txBox="1"/>
          <p:nvPr/>
        </p:nvSpPr>
        <p:spPr>
          <a:xfrm>
            <a:off x="1442175" y="3951425"/>
            <a:ext cx="22381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Obiettivi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Precondizioni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 err="1"/>
              <a:t>Postcondizioni</a:t>
            </a:r>
            <a:r>
              <a:rPr lang="it-IT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Scenario principale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Estensioni</a:t>
            </a:r>
          </a:p>
        </p:txBody>
      </p:sp>
    </p:spTree>
    <p:extLst>
      <p:ext uri="{BB962C8B-B14F-4D97-AF65-F5344CB8AC3E}">
        <p14:creationId xmlns:p14="http://schemas.microsoft.com/office/powerpoint/2010/main" val="123001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4E03DE-1C4E-4337-B54B-247C1E94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AC2347B-C9A3-E912-0CF4-734C45F8D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3" y="224378"/>
            <a:ext cx="5140518" cy="375257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0D50E09C-E354-DC86-05AD-9DD4C3884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34" y="224378"/>
            <a:ext cx="4618557" cy="3752578"/>
          </a:xfrm>
          <a:prstGeom prst="rect">
            <a:avLst/>
          </a:prstGeom>
        </p:spPr>
      </p:pic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F58C98-0B4B-59E4-56E9-EEE13710FFA1}"/>
              </a:ext>
            </a:extLst>
          </p:cNvPr>
          <p:cNvSpPr txBox="1"/>
          <p:nvPr/>
        </p:nvSpPr>
        <p:spPr>
          <a:xfrm>
            <a:off x="679600" y="4596992"/>
            <a:ext cx="3353432" cy="160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Mockups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9DC4C72-2D13-E679-E598-1617D8C38CC2}"/>
              </a:ext>
            </a:extLst>
          </p:cNvPr>
          <p:cNvSpPr txBox="1"/>
          <p:nvPr/>
        </p:nvSpPr>
        <p:spPr>
          <a:xfrm>
            <a:off x="4271491" y="4596992"/>
            <a:ext cx="6964545" cy="1607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Per </a:t>
            </a:r>
            <a:r>
              <a:rPr lang="en-US" sz="2400" dirty="0" err="1">
                <a:solidFill>
                  <a:schemeClr val="tx2"/>
                </a:solidFill>
              </a:rPr>
              <a:t>comprendere</a:t>
            </a:r>
            <a:r>
              <a:rPr lang="en-US" sz="2400" dirty="0">
                <a:solidFill>
                  <a:schemeClr val="tx2"/>
                </a:solidFill>
              </a:rPr>
              <a:t> al </a:t>
            </a:r>
            <a:r>
              <a:rPr lang="en-US" sz="2400" dirty="0" err="1">
                <a:solidFill>
                  <a:schemeClr val="tx2"/>
                </a:solidFill>
              </a:rPr>
              <a:t>meglio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casi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d’uso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descritti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sono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stati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sviluppati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anche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rispettivi</a:t>
            </a:r>
            <a:r>
              <a:rPr lang="en-US" sz="2400" dirty="0">
                <a:solidFill>
                  <a:schemeClr val="tx2"/>
                </a:solidFill>
              </a:rPr>
              <a:t> mockup con Visual Paradigm</a:t>
            </a:r>
          </a:p>
        </p:txBody>
      </p:sp>
    </p:spTree>
    <p:extLst>
      <p:ext uri="{BB962C8B-B14F-4D97-AF65-F5344CB8AC3E}">
        <p14:creationId xmlns:p14="http://schemas.microsoft.com/office/powerpoint/2010/main" val="6918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B5E767A-BB9A-BE62-BB88-F069F5919CD1}"/>
              </a:ext>
            </a:extLst>
          </p:cNvPr>
          <p:cNvSpPr txBox="1"/>
          <p:nvPr/>
        </p:nvSpPr>
        <p:spPr>
          <a:xfrm>
            <a:off x="4449960" y="1507414"/>
            <a:ext cx="7295507" cy="3703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System &amp; UI Design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494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973FDCB-8267-F4F9-C32E-60C412033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dirty="0" err="1">
                <a:solidFill>
                  <a:schemeClr val="tx2"/>
                </a:solidFill>
              </a:rPr>
              <a:t>Architettura</a:t>
            </a:r>
            <a:r>
              <a:rPr lang="en-US" sz="2800" b="1" dirty="0">
                <a:solidFill>
                  <a:schemeClr val="tx2"/>
                </a:solidFill>
              </a:rPr>
              <a:t> Client-Server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6E1D8AF-193E-D2D1-8B9E-93F85B8E8B83}"/>
              </a:ext>
            </a:extLst>
          </p:cNvPr>
          <p:cNvSpPr txBox="1"/>
          <p:nvPr/>
        </p:nvSpPr>
        <p:spPr>
          <a:xfrm>
            <a:off x="609906" y="2340864"/>
            <a:ext cx="3568661" cy="3634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b="1" dirty="0">
                <a:solidFill>
                  <a:schemeClr val="tx2"/>
                </a:solidFill>
              </a:rPr>
              <a:t>Separation of Concerns: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Disaccoppiamento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totale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tra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presentazione</a:t>
            </a:r>
            <a:r>
              <a:rPr lang="en-US" dirty="0">
                <a:solidFill>
                  <a:schemeClr val="tx2"/>
                </a:solidFill>
              </a:rPr>
              <a:t> e </a:t>
            </a:r>
            <a:r>
              <a:rPr lang="en-US" dirty="0" err="1">
                <a:solidFill>
                  <a:schemeClr val="tx2"/>
                </a:solidFill>
              </a:rPr>
              <a:t>logica</a:t>
            </a:r>
            <a:r>
              <a:rPr lang="en-US" dirty="0">
                <a:solidFill>
                  <a:schemeClr val="tx2"/>
                </a:solidFill>
              </a:rPr>
              <a:t> di business.</a:t>
            </a:r>
          </a:p>
          <a:p>
            <a:pPr lvl="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b="1" dirty="0">
                <a:solidFill>
                  <a:schemeClr val="tx2"/>
                </a:solidFill>
              </a:rPr>
              <a:t>Front-end (Client):</a:t>
            </a:r>
            <a:r>
              <a:rPr lang="en-US" dirty="0">
                <a:solidFill>
                  <a:schemeClr val="tx2"/>
                </a:solidFill>
              </a:rPr>
              <a:t> Single Page Application in React (Vite).</a:t>
            </a:r>
          </a:p>
          <a:p>
            <a:pPr lvl="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b="1" dirty="0">
                <a:solidFill>
                  <a:schemeClr val="tx2"/>
                </a:solidFill>
              </a:rPr>
              <a:t>Back-end (Server):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Ambiente</a:t>
            </a:r>
            <a:r>
              <a:rPr lang="en-US" dirty="0">
                <a:solidFill>
                  <a:schemeClr val="tx2"/>
                </a:solidFill>
              </a:rPr>
              <a:t> Node.js con framework Express.</a:t>
            </a:r>
          </a:p>
          <a:p>
            <a:pPr lvl="0"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b="1" dirty="0" err="1">
                <a:solidFill>
                  <a:schemeClr val="tx2"/>
                </a:solidFill>
              </a:rPr>
              <a:t>Comunicazione</a:t>
            </a:r>
            <a:r>
              <a:rPr lang="en-US" b="1" dirty="0">
                <a:solidFill>
                  <a:schemeClr val="tx2"/>
                </a:solidFill>
              </a:rPr>
              <a:t>:</a:t>
            </a:r>
            <a:r>
              <a:rPr lang="en-US" dirty="0">
                <a:solidFill>
                  <a:schemeClr val="tx2"/>
                </a:solidFill>
              </a:rPr>
              <a:t> API RESTful </a:t>
            </a:r>
            <a:r>
              <a:rPr lang="en-US" dirty="0" err="1">
                <a:solidFill>
                  <a:schemeClr val="tx2"/>
                </a:solidFill>
              </a:rPr>
              <a:t>esposte</a:t>
            </a:r>
            <a:r>
              <a:rPr lang="en-US" dirty="0">
                <a:solidFill>
                  <a:schemeClr val="tx2"/>
                </a:solidFill>
              </a:rPr>
              <a:t> in </a:t>
            </a:r>
            <a:r>
              <a:rPr lang="en-US" dirty="0" err="1">
                <a:solidFill>
                  <a:schemeClr val="tx2"/>
                </a:solidFill>
              </a:rPr>
              <a:t>formato</a:t>
            </a:r>
            <a:r>
              <a:rPr lang="en-US" dirty="0">
                <a:solidFill>
                  <a:schemeClr val="tx2"/>
                </a:solidFill>
              </a:rPr>
              <a:t> JSON.</a:t>
            </a:r>
          </a:p>
          <a:p>
            <a:pPr indent="-2286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5A06F3F0-34AD-0C98-13BE-7F65FB5DB27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45799" y="3316198"/>
            <a:ext cx="6735272" cy="168381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083FE9D-89C2-315A-2543-D1C4F30FE65A}"/>
              </a:ext>
            </a:extLst>
          </p:cNvPr>
          <p:cNvSpPr txBox="1"/>
          <p:nvPr/>
        </p:nvSpPr>
        <p:spPr>
          <a:xfrm>
            <a:off x="5155617" y="1599468"/>
            <a:ext cx="6302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L’architettura adottata per il sistema è un’architettura </a:t>
            </a:r>
            <a:r>
              <a:rPr lang="it-IT" b="1" dirty="0" err="1">
                <a:solidFill>
                  <a:schemeClr val="tx2"/>
                </a:solidFill>
              </a:rPr>
              <a:t>client-server</a:t>
            </a:r>
            <a:r>
              <a:rPr lang="it-IT" dirty="0">
                <a:solidFill>
                  <a:schemeClr val="tx2"/>
                </a:solidFill>
              </a:rPr>
              <a:t> distribuita, garantendo un disaccoppiamento totale tra </a:t>
            </a:r>
            <a:r>
              <a:rPr lang="it-IT" b="1" dirty="0" err="1">
                <a:solidFill>
                  <a:schemeClr val="tx2"/>
                </a:solidFill>
              </a:rPr>
              <a:t>backend</a:t>
            </a:r>
            <a:r>
              <a:rPr lang="it-IT" dirty="0">
                <a:solidFill>
                  <a:schemeClr val="tx2"/>
                </a:solidFill>
              </a:rPr>
              <a:t> e </a:t>
            </a:r>
            <a:r>
              <a:rPr lang="it-IT" b="1" dirty="0" err="1">
                <a:solidFill>
                  <a:schemeClr val="tx2"/>
                </a:solidFill>
              </a:rPr>
              <a:t>frontend</a:t>
            </a:r>
            <a:r>
              <a:rPr lang="it-IT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915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37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5" name="Rectangle 39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6" name="Rectangle 41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7" name="Rectangle 43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8" name="Rectangle 45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58CBB3-122A-082C-F5CA-185C01A3601B}"/>
              </a:ext>
            </a:extLst>
          </p:cNvPr>
          <p:cNvSpPr txBox="1"/>
          <p:nvPr/>
        </p:nvSpPr>
        <p:spPr>
          <a:xfrm>
            <a:off x="1129450" y="617965"/>
            <a:ext cx="5389114" cy="15551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Back-end: </a:t>
            </a:r>
            <a:r>
              <a:rPr lang="en-US" sz="2800" b="1" cap="all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Architettura</a:t>
            </a:r>
            <a:r>
              <a:rPr lang="en-US" sz="28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 Livelli (Layered Architecture)</a:t>
            </a:r>
          </a:p>
        </p:txBody>
      </p:sp>
      <p:sp>
        <p:nvSpPr>
          <p:cNvPr id="89" name="Rectangle 47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2BB727-171A-65A0-9EB6-6B10230E2E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9451" y="2320083"/>
            <a:ext cx="3568661" cy="36344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buFont typeface="Wingdings 2" panose="05020102010507070707" pitchFamily="18" charset="2"/>
              <a:buChar char=""/>
            </a:pPr>
            <a:r>
              <a:rPr lang="en-US" sz="1800" b="1" dirty="0"/>
              <a:t> Controller:</a:t>
            </a:r>
            <a:r>
              <a:rPr lang="en-US" sz="1800" dirty="0"/>
              <a:t> </a:t>
            </a:r>
            <a:r>
              <a:rPr lang="it-IT" sz="1800" dirty="0"/>
              <a:t>Gestione richieste HTTP, Inoltro delle richieste al Service </a:t>
            </a:r>
            <a:r>
              <a:rPr lang="it-IT" sz="1800" dirty="0" err="1"/>
              <a:t>layer</a:t>
            </a:r>
            <a:r>
              <a:rPr lang="it-IT" sz="1800" dirty="0"/>
              <a:t> e mapping DTO</a:t>
            </a:r>
            <a:r>
              <a:rPr lang="en-US" sz="1800" dirty="0"/>
              <a:t>.</a:t>
            </a:r>
          </a:p>
          <a:p>
            <a:pPr lvl="0">
              <a:buFont typeface="Wingdings 2" panose="05020102010507070707" pitchFamily="18" charset="2"/>
              <a:buChar char=""/>
            </a:pPr>
            <a:r>
              <a:rPr lang="en-US" sz="1800" b="1" dirty="0"/>
              <a:t> Service:</a:t>
            </a:r>
            <a:r>
              <a:rPr lang="en-US" sz="1800" dirty="0"/>
              <a:t> </a:t>
            </a:r>
            <a:r>
              <a:rPr lang="it-IT" sz="1800" dirty="0"/>
              <a:t>Logica di business</a:t>
            </a:r>
            <a:endParaRPr lang="en-US" sz="1800" dirty="0"/>
          </a:p>
          <a:p>
            <a:pPr lvl="0">
              <a:buFont typeface="Wingdings 2" panose="05020102010507070707" pitchFamily="18" charset="2"/>
              <a:buChar char=""/>
            </a:pPr>
            <a:r>
              <a:rPr lang="en-US" sz="1800" b="1" dirty="0"/>
              <a:t> Data Access Layer:</a:t>
            </a:r>
            <a:r>
              <a:rPr lang="en-US" sz="1800" dirty="0"/>
              <a:t> </a:t>
            </a:r>
            <a:r>
              <a:rPr lang="en-US" sz="1800" dirty="0" err="1"/>
              <a:t>Astrazione</a:t>
            </a:r>
            <a:r>
              <a:rPr lang="en-US" sz="1800" dirty="0"/>
              <a:t> del database </a:t>
            </a:r>
            <a:r>
              <a:rPr lang="en-US" sz="1800" dirty="0" err="1"/>
              <a:t>tramite</a:t>
            </a:r>
            <a:r>
              <a:rPr lang="en-US" sz="1800" dirty="0"/>
              <a:t> Prisma ORM.</a:t>
            </a:r>
          </a:p>
          <a:p>
            <a:pPr lvl="0">
              <a:buFont typeface="Wingdings 2" panose="05020102010507070707" pitchFamily="18" charset="2"/>
              <a:buChar char=""/>
            </a:pPr>
            <a:r>
              <a:rPr lang="it-IT" sz="1800" dirty="0"/>
              <a:t> </a:t>
            </a:r>
            <a:r>
              <a:rPr lang="it-IT" sz="1800" b="1" dirty="0"/>
              <a:t>Database Layer</a:t>
            </a:r>
            <a:r>
              <a:rPr lang="it-IT" sz="1800" dirty="0"/>
              <a:t>: persistenza dei dati tramite Database Relazionale.</a:t>
            </a:r>
            <a:endParaRPr lang="en-US" sz="18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3745D58-550F-0F3C-D761-C99C5C5C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55" y="1971868"/>
            <a:ext cx="3745776" cy="281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3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9" name="Rectangle 2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0" name="Rectangle 24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1" name="Rectangle 26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9F936A4-13C3-5682-423E-780B7AC56802}"/>
              </a:ext>
            </a:extLst>
          </p:cNvPr>
          <p:cNvSpPr txBox="1"/>
          <p:nvPr/>
        </p:nvSpPr>
        <p:spPr>
          <a:xfrm>
            <a:off x="609906" y="816882"/>
            <a:ext cx="4481639" cy="12697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PERSISTENZA DEI DATI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28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" name="Rectangle 28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69865ED-F1E3-D7AD-F838-E17DC56FE3DC}"/>
              </a:ext>
            </a:extLst>
          </p:cNvPr>
          <p:cNvSpPr txBox="1"/>
          <p:nvPr/>
        </p:nvSpPr>
        <p:spPr>
          <a:xfrm>
            <a:off x="609906" y="2071948"/>
            <a:ext cx="3568661" cy="3903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lvl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200" b="1" dirty="0">
                <a:solidFill>
                  <a:schemeClr val="tx2"/>
                </a:solidFill>
              </a:rPr>
              <a:t>RDBMS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>
                <a:solidFill>
                  <a:schemeClr val="tx2"/>
                </a:solidFill>
              </a:rPr>
              <a:t>È </a:t>
            </a:r>
            <a:r>
              <a:rPr lang="en-US" dirty="0" err="1">
                <a:solidFill>
                  <a:schemeClr val="tx2"/>
                </a:solidFill>
              </a:rPr>
              <a:t>stato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scelto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PostgreSQL</a:t>
            </a:r>
            <a:r>
              <a:rPr lang="en-US" dirty="0">
                <a:solidFill>
                  <a:schemeClr val="tx2"/>
                </a:solidFill>
              </a:rPr>
              <a:t> in </a:t>
            </a:r>
            <a:r>
              <a:rPr lang="en-US" dirty="0" err="1">
                <a:solidFill>
                  <a:schemeClr val="tx2"/>
                </a:solidFill>
              </a:rPr>
              <a:t>quanto</a:t>
            </a:r>
            <a:r>
              <a:rPr lang="en-US" dirty="0">
                <a:solidFill>
                  <a:schemeClr val="tx2"/>
                </a:solidFill>
              </a:rPr>
              <a:t>: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2"/>
                </a:solidFill>
              </a:rPr>
              <a:t>Affidabile</a:t>
            </a:r>
            <a:endParaRPr lang="en-US" dirty="0">
              <a:solidFill>
                <a:schemeClr val="tx2"/>
              </a:solidFill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2"/>
                </a:solidFill>
              </a:rPr>
              <a:t>Supporto</a:t>
            </a:r>
            <a:r>
              <a:rPr lang="en-US" dirty="0">
                <a:solidFill>
                  <a:schemeClr val="tx2"/>
                </a:solidFill>
              </a:rPr>
              <a:t> ACID (</a:t>
            </a:r>
            <a:r>
              <a:rPr lang="en-US" dirty="0" err="1">
                <a:solidFill>
                  <a:schemeClr val="tx2"/>
                </a:solidFill>
              </a:rPr>
              <a:t>Atomocità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Consistenza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Isolamento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Durabilità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200" b="1" dirty="0">
                <a:solidFill>
                  <a:schemeClr val="tx2"/>
                </a:solidFill>
              </a:rPr>
              <a:t>ORM</a:t>
            </a: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>
                <a:solidFill>
                  <a:schemeClr val="tx2"/>
                </a:solidFill>
              </a:rPr>
              <a:t>È </a:t>
            </a:r>
            <a:r>
              <a:rPr lang="en-US" dirty="0" err="1">
                <a:solidFill>
                  <a:schemeClr val="tx2"/>
                </a:solidFill>
              </a:rPr>
              <a:t>stato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scelto</a:t>
            </a:r>
            <a:r>
              <a:rPr lang="en-US" dirty="0">
                <a:solidFill>
                  <a:schemeClr val="tx2"/>
                </a:solidFill>
              </a:rPr>
              <a:t> Prisma. Esso </a:t>
            </a:r>
            <a:r>
              <a:rPr lang="en-US" dirty="0" err="1">
                <a:solidFill>
                  <a:schemeClr val="tx2"/>
                </a:solidFill>
              </a:rPr>
              <a:t>garantisce</a:t>
            </a:r>
            <a:r>
              <a:rPr lang="en-US" dirty="0">
                <a:solidFill>
                  <a:schemeClr val="tx2"/>
                </a:solidFill>
              </a:rPr>
              <a:t>: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Ø"/>
            </a:pPr>
            <a:r>
              <a:rPr lang="it-IT" dirty="0">
                <a:solidFill>
                  <a:schemeClr val="tx2"/>
                </a:solidFill>
              </a:rPr>
              <a:t>Di avere </a:t>
            </a:r>
            <a:r>
              <a:rPr lang="it-IT" b="1" dirty="0">
                <a:solidFill>
                  <a:schemeClr val="tx2"/>
                </a:solidFill>
              </a:rPr>
              <a:t>astrazione</a:t>
            </a:r>
            <a:r>
              <a:rPr lang="it-IT" dirty="0">
                <a:solidFill>
                  <a:schemeClr val="tx2"/>
                </a:solidFill>
              </a:rPr>
              <a:t> tra schema DB e codice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</a:rPr>
              <a:t>Type-Safety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CA35AE9-B676-A7C0-9B09-20350500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13" t="53506" r="26316"/>
          <a:stretch>
            <a:fillRect/>
          </a:stretch>
        </p:blipFill>
        <p:spPr>
          <a:xfrm>
            <a:off x="4654296" y="2003160"/>
            <a:ext cx="6735272" cy="267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9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54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0" name="Rectangle 56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1" name="Rectangle 58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87FD4B-B045-3B7D-28CB-7E80FD77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Sicurezza by Design e Validazione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FB8817B-703C-2CF8-742B-2F45286E40D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64" y="2563984"/>
            <a:ext cx="11029614" cy="21210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lvl="0" indent="-285750">
              <a:buFont typeface="Wingdings 2" panose="05020102010507070707" pitchFamily="18" charset="2"/>
              <a:buChar char=""/>
            </a:pPr>
            <a:r>
              <a:rPr lang="en-US" sz="1800" b="1" dirty="0" err="1"/>
              <a:t>Autenticazione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b="1" dirty="0"/>
              <a:t>Token JWT </a:t>
            </a:r>
            <a:r>
              <a:rPr lang="en-US" sz="1800" dirty="0"/>
              <a:t>per </a:t>
            </a:r>
            <a:r>
              <a:rPr lang="en-US" sz="1800" dirty="0" err="1"/>
              <a:t>sessioni</a:t>
            </a:r>
            <a:r>
              <a:rPr lang="en-US" sz="1800" dirty="0"/>
              <a:t> </a:t>
            </a:r>
            <a:r>
              <a:rPr lang="en-US" sz="1800" i="1" dirty="0"/>
              <a:t>stateless</a:t>
            </a:r>
            <a:r>
              <a:rPr lang="en-US" sz="1800" dirty="0"/>
              <a:t> e </a:t>
            </a:r>
            <a:r>
              <a:rPr lang="en-US" sz="1800" dirty="0" err="1"/>
              <a:t>sicure</a:t>
            </a:r>
            <a:r>
              <a:rPr lang="en-US" sz="1800" dirty="0"/>
              <a:t>.</a:t>
            </a:r>
          </a:p>
          <a:p>
            <a:pPr marL="285750" lvl="0" indent="-285750">
              <a:buFont typeface="Wingdings 2" panose="05020102010507070707" pitchFamily="18" charset="2"/>
              <a:buChar char=""/>
            </a:pPr>
            <a:r>
              <a:rPr lang="en-US" sz="1800" b="1" dirty="0" err="1"/>
              <a:t>Autorizzazione</a:t>
            </a:r>
            <a:r>
              <a:rPr lang="en-US" sz="1800" b="1" dirty="0"/>
              <a:t> (RBAC):</a:t>
            </a:r>
            <a:r>
              <a:rPr lang="en-US" sz="1800" dirty="0"/>
              <a:t> </a:t>
            </a:r>
            <a:r>
              <a:rPr lang="en-US" sz="1800" i="1" dirty="0"/>
              <a:t>Role-Based Access Control</a:t>
            </a:r>
            <a:r>
              <a:rPr lang="en-US" sz="1800" dirty="0"/>
              <a:t> (Admin / Member) per la </a:t>
            </a:r>
            <a:r>
              <a:rPr lang="en-US" sz="1800" dirty="0" err="1"/>
              <a:t>protezione</a:t>
            </a:r>
            <a:r>
              <a:rPr lang="en-US" sz="1800" dirty="0"/>
              <a:t> degli endpoint </a:t>
            </a:r>
            <a:r>
              <a:rPr lang="en-US" sz="1800" dirty="0" err="1"/>
              <a:t>critici</a:t>
            </a:r>
            <a:r>
              <a:rPr lang="en-US" sz="1800" dirty="0"/>
              <a:t>.</a:t>
            </a:r>
          </a:p>
          <a:p>
            <a:pPr marL="285750" lvl="0" indent="-285750">
              <a:buFont typeface="Wingdings 2" panose="05020102010507070707" pitchFamily="18" charset="2"/>
              <a:buChar char=""/>
            </a:pPr>
            <a:r>
              <a:rPr lang="en-US" sz="1800" b="1" dirty="0" err="1"/>
              <a:t>Validazione</a:t>
            </a:r>
            <a:r>
              <a:rPr lang="en-US" sz="1800" b="1" dirty="0"/>
              <a:t> Fail-Fast:</a:t>
            </a:r>
            <a:r>
              <a:rPr lang="en-US" sz="1800" dirty="0"/>
              <a:t> </a:t>
            </a:r>
            <a:r>
              <a:rPr lang="en-US" sz="1800" dirty="0" err="1"/>
              <a:t>Intercettazione</a:t>
            </a:r>
            <a:r>
              <a:rPr lang="en-US" sz="1800" dirty="0"/>
              <a:t> di input </a:t>
            </a:r>
            <a:r>
              <a:rPr lang="en-US" sz="1800" dirty="0" err="1"/>
              <a:t>anomali</a:t>
            </a:r>
            <a:r>
              <a:rPr lang="en-US" sz="1800" dirty="0"/>
              <a:t> </a:t>
            </a:r>
            <a:r>
              <a:rPr lang="en-US" sz="1800" dirty="0" err="1"/>
              <a:t>tramite</a:t>
            </a:r>
            <a:r>
              <a:rPr lang="en-US" sz="1800" dirty="0"/>
              <a:t> middleware e </a:t>
            </a:r>
            <a:r>
              <a:rPr lang="en-US" sz="1800" dirty="0" err="1"/>
              <a:t>schemi</a:t>
            </a:r>
            <a:r>
              <a:rPr lang="en-US" sz="1800" dirty="0"/>
              <a:t> </a:t>
            </a:r>
            <a:r>
              <a:rPr lang="en-US" sz="1800" b="1" dirty="0"/>
              <a:t>Zod</a:t>
            </a:r>
            <a:r>
              <a:rPr lang="en-US" sz="1800" dirty="0"/>
              <a:t>.</a:t>
            </a:r>
          </a:p>
          <a:p>
            <a:pPr marL="285750" lvl="0" indent="-285750">
              <a:buFont typeface="Wingdings 2" panose="05020102010507070707" pitchFamily="18" charset="2"/>
              <a:buChar char=""/>
            </a:pPr>
            <a:r>
              <a:rPr lang="en-US" sz="1800" b="1" dirty="0"/>
              <a:t>DoS</a:t>
            </a:r>
            <a:r>
              <a:rPr lang="en-US" sz="1800" dirty="0"/>
              <a:t>: </a:t>
            </a:r>
            <a:r>
              <a:rPr lang="en-US" sz="1800" dirty="0" err="1"/>
              <a:t>Configurato</a:t>
            </a:r>
            <a:r>
              <a:rPr lang="en-US" sz="1800" dirty="0"/>
              <a:t> il middleware </a:t>
            </a:r>
            <a:r>
              <a:rPr lang="en-US" sz="1800" b="1" dirty="0"/>
              <a:t>Multer</a:t>
            </a:r>
            <a:r>
              <a:rPr lang="en-US" sz="1800" dirty="0"/>
              <a:t> per </a:t>
            </a:r>
            <a:r>
              <a:rPr lang="en-US" sz="1800" dirty="0" err="1"/>
              <a:t>scongiurare</a:t>
            </a:r>
            <a:r>
              <a:rPr lang="en-US" sz="1800" dirty="0"/>
              <a:t> </a:t>
            </a:r>
            <a:r>
              <a:rPr lang="en-US" sz="1800" dirty="0" err="1"/>
              <a:t>gli</a:t>
            </a:r>
            <a:r>
              <a:rPr lang="en-US" sz="1800" dirty="0"/>
              <a:t> </a:t>
            </a:r>
            <a:r>
              <a:rPr lang="en-US" sz="1800" dirty="0" err="1"/>
              <a:t>attacchi</a:t>
            </a:r>
            <a:r>
              <a:rPr lang="en-US" sz="1800" dirty="0"/>
              <a:t> </a:t>
            </a:r>
            <a:r>
              <a:rPr lang="en-US" sz="1800" dirty="0" err="1"/>
              <a:t>tramite</a:t>
            </a:r>
            <a:r>
              <a:rPr lang="en-US" sz="1800" dirty="0"/>
              <a:t> </a:t>
            </a:r>
            <a:r>
              <a:rPr lang="en-US" sz="1800" dirty="0" err="1"/>
              <a:t>caricamento</a:t>
            </a:r>
            <a:r>
              <a:rPr lang="en-US" sz="1800" dirty="0"/>
              <a:t> di </a:t>
            </a:r>
            <a:r>
              <a:rPr lang="en-US" sz="1800" dirty="0" err="1"/>
              <a:t>allegati</a:t>
            </a:r>
            <a:r>
              <a:rPr lang="en-US" sz="1800" dirty="0"/>
              <a:t>.</a:t>
            </a:r>
          </a:p>
          <a:p>
            <a:pPr>
              <a:buFont typeface="Wingdings 2" panose="05020102010507070707" pitchFamily="18" charset="2"/>
              <a:buChar char=""/>
            </a:pPr>
            <a:endParaRPr lang="en-US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71EAC8EF-CF73-1734-011F-E659791D7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01" y="4294016"/>
            <a:ext cx="11236177" cy="210678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0E2076E-3994-03DB-5D27-6460F29101C8}"/>
              </a:ext>
            </a:extLst>
          </p:cNvPr>
          <p:cNvSpPr txBox="1"/>
          <p:nvPr/>
        </p:nvSpPr>
        <p:spPr>
          <a:xfrm>
            <a:off x="681964" y="2078617"/>
            <a:ext cx="10843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tx2"/>
                </a:solidFill>
              </a:rPr>
              <a:t>Il sistema è stato progettato seguendo il principio del </a:t>
            </a:r>
            <a:r>
              <a:rPr lang="it-IT" sz="2000" i="1" dirty="0">
                <a:solidFill>
                  <a:schemeClr val="tx2"/>
                </a:solidFill>
              </a:rPr>
              <a:t>Security by Design</a:t>
            </a:r>
            <a:r>
              <a:rPr lang="it-IT" sz="2000" dirty="0">
                <a:solidFill>
                  <a:schemeClr val="tx2"/>
                </a:solidFill>
              </a:rPr>
              <a:t> su tutti i livelli dell'architettura:</a:t>
            </a:r>
          </a:p>
        </p:txBody>
      </p:sp>
    </p:spTree>
    <p:extLst>
      <p:ext uri="{BB962C8B-B14F-4D97-AF65-F5344CB8AC3E}">
        <p14:creationId xmlns:p14="http://schemas.microsoft.com/office/powerpoint/2010/main" val="200960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5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7" name="Rectangle 17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8" name="Rectangle 19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9" name="Rectangle 21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CDF139-AF97-E3F9-DD8B-3EF8E9820BFB}"/>
              </a:ext>
            </a:extLst>
          </p:cNvPr>
          <p:cNvSpPr txBox="1"/>
          <p:nvPr/>
        </p:nvSpPr>
        <p:spPr>
          <a:xfrm>
            <a:off x="638620" y="994883"/>
            <a:ext cx="4044390" cy="8088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Front-end: React e </a:t>
            </a:r>
            <a:r>
              <a:rPr lang="en-US" sz="2600" b="1" cap="all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Componentizzazione</a:t>
            </a:r>
            <a:endParaRPr lang="en-US" sz="2600" b="1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1" name="Rectangle 25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A53662-FC5B-8BB6-80AF-408DE98871DE}"/>
              </a:ext>
            </a:extLst>
          </p:cNvPr>
          <p:cNvSpPr txBox="1"/>
          <p:nvPr/>
        </p:nvSpPr>
        <p:spPr>
          <a:xfrm>
            <a:off x="609906" y="2340864"/>
            <a:ext cx="3741165" cy="4059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b="1" dirty="0" err="1">
                <a:solidFill>
                  <a:schemeClr val="tx2"/>
                </a:solidFill>
              </a:rPr>
              <a:t>Architettura</a:t>
            </a:r>
            <a:r>
              <a:rPr lang="en-US" sz="1700" b="1" dirty="0">
                <a:solidFill>
                  <a:schemeClr val="tx2"/>
                </a:solidFill>
              </a:rPr>
              <a:t> UI: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Sviluppo</a:t>
            </a:r>
            <a:r>
              <a:rPr lang="en-US" sz="1700" dirty="0">
                <a:solidFill>
                  <a:schemeClr val="tx2"/>
                </a:solidFill>
              </a:rPr>
              <a:t> di </a:t>
            </a:r>
            <a:r>
              <a:rPr lang="en-US" sz="1700" dirty="0" err="1">
                <a:solidFill>
                  <a:schemeClr val="tx2"/>
                </a:solidFill>
              </a:rPr>
              <a:t>una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b="1" dirty="0">
                <a:solidFill>
                  <a:schemeClr val="tx2"/>
                </a:solidFill>
              </a:rPr>
              <a:t>Single Page Application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reattiva</a:t>
            </a:r>
            <a:r>
              <a:rPr lang="en-US" sz="1700" dirty="0">
                <a:solidFill>
                  <a:schemeClr val="tx2"/>
                </a:solidFill>
              </a:rPr>
              <a:t> con </a:t>
            </a:r>
            <a:r>
              <a:rPr lang="en-US" sz="1700" b="1" dirty="0">
                <a:solidFill>
                  <a:schemeClr val="tx2"/>
                </a:solidFill>
              </a:rPr>
              <a:t>React</a:t>
            </a:r>
            <a:r>
              <a:rPr lang="en-US" sz="1700" dirty="0">
                <a:solidFill>
                  <a:schemeClr val="tx2"/>
                </a:solidFill>
              </a:rPr>
              <a:t> e Vite.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it-IT" sz="1600" b="1" dirty="0" err="1">
                <a:solidFill>
                  <a:schemeClr val="tx2"/>
                </a:solidFill>
              </a:rPr>
              <a:t>Separation</a:t>
            </a:r>
            <a:r>
              <a:rPr lang="it-IT" sz="1600" b="1" dirty="0">
                <a:solidFill>
                  <a:schemeClr val="tx2"/>
                </a:solidFill>
              </a:rPr>
              <a:t> of </a:t>
            </a:r>
            <a:r>
              <a:rPr lang="it-IT" sz="1600" b="1" dirty="0" err="1">
                <a:solidFill>
                  <a:schemeClr val="tx2"/>
                </a:solidFill>
              </a:rPr>
              <a:t>Concerns</a:t>
            </a:r>
            <a:r>
              <a:rPr lang="en-US" sz="1700" b="1" dirty="0">
                <a:solidFill>
                  <a:schemeClr val="tx2"/>
                </a:solidFill>
              </a:rPr>
              <a:t>: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Utilizzo</a:t>
            </a:r>
            <a:r>
              <a:rPr lang="en-US" sz="1700" dirty="0">
                <a:solidFill>
                  <a:schemeClr val="tx2"/>
                </a:solidFill>
              </a:rPr>
              <a:t> di </a:t>
            </a:r>
            <a:r>
              <a:rPr lang="en-US" sz="1700" b="1" dirty="0">
                <a:solidFill>
                  <a:schemeClr val="tx2"/>
                </a:solidFill>
              </a:rPr>
              <a:t>Custom Hooks</a:t>
            </a:r>
            <a:r>
              <a:rPr lang="en-US" sz="1700" dirty="0">
                <a:solidFill>
                  <a:schemeClr val="tx2"/>
                </a:solidFill>
              </a:rPr>
              <a:t> per </a:t>
            </a:r>
            <a:r>
              <a:rPr lang="en-US" sz="1700" dirty="0" err="1">
                <a:solidFill>
                  <a:schemeClr val="tx2"/>
                </a:solidFill>
              </a:rPr>
              <a:t>isolare</a:t>
            </a:r>
            <a:r>
              <a:rPr lang="en-US" sz="1700" dirty="0">
                <a:solidFill>
                  <a:schemeClr val="tx2"/>
                </a:solidFill>
              </a:rPr>
              <a:t> la </a:t>
            </a:r>
            <a:r>
              <a:rPr lang="en-US" sz="1700" dirty="0" err="1">
                <a:solidFill>
                  <a:schemeClr val="tx2"/>
                </a:solidFill>
              </a:rPr>
              <a:t>logica</a:t>
            </a:r>
            <a:r>
              <a:rPr lang="en-US" sz="1700" dirty="0">
                <a:solidFill>
                  <a:schemeClr val="tx2"/>
                </a:solidFill>
              </a:rPr>
              <a:t> delle </a:t>
            </a:r>
            <a:r>
              <a:rPr lang="en-US" sz="1700" dirty="0" err="1">
                <a:solidFill>
                  <a:schemeClr val="tx2"/>
                </a:solidFill>
              </a:rPr>
              <a:t>chiamate</a:t>
            </a:r>
            <a:r>
              <a:rPr lang="en-US" sz="1700" dirty="0">
                <a:solidFill>
                  <a:schemeClr val="tx2"/>
                </a:solidFill>
              </a:rPr>
              <a:t> API </a:t>
            </a:r>
            <a:r>
              <a:rPr lang="en-US" sz="1700" dirty="0" err="1">
                <a:solidFill>
                  <a:schemeClr val="tx2"/>
                </a:solidFill>
              </a:rPr>
              <a:t>dai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componenti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visivi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it-IT" sz="1600" b="1" dirty="0">
                <a:solidFill>
                  <a:schemeClr val="tx2"/>
                </a:solidFill>
              </a:rPr>
              <a:t>Routing e Viste (Pages):</a:t>
            </a:r>
            <a:r>
              <a:rPr lang="it-IT" sz="1600" dirty="0">
                <a:solidFill>
                  <a:schemeClr val="tx2"/>
                </a:solidFill>
              </a:rPr>
              <a:t> Navigazione interamente gestita lato client (SPA) dividendo l'applicativo in macro-aree strutturali isolate (Login, Board, Dashboard).</a:t>
            </a:r>
            <a:endParaRPr lang="en-US" sz="1700" dirty="0">
              <a:solidFill>
                <a:schemeClr val="tx2"/>
              </a:solidFill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b="1" dirty="0">
                <a:solidFill>
                  <a:schemeClr val="tx2"/>
                </a:solidFill>
              </a:rPr>
              <a:t>Rendering </a:t>
            </a:r>
            <a:r>
              <a:rPr lang="en-US" sz="1700" b="1" dirty="0" err="1">
                <a:solidFill>
                  <a:schemeClr val="tx2"/>
                </a:solidFill>
              </a:rPr>
              <a:t>Condizionale</a:t>
            </a:r>
            <a:r>
              <a:rPr lang="en-US" sz="1700" b="1" dirty="0">
                <a:solidFill>
                  <a:schemeClr val="tx2"/>
                </a:solidFill>
              </a:rPr>
              <a:t> (RBAC):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L'interfaccia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si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adatta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dinamicamente</a:t>
            </a:r>
            <a:r>
              <a:rPr lang="en-US" sz="1700" dirty="0">
                <a:solidFill>
                  <a:schemeClr val="tx2"/>
                </a:solidFill>
              </a:rPr>
              <a:t> al </a:t>
            </a:r>
            <a:r>
              <a:rPr lang="en-US" sz="1700" b="1" dirty="0" err="1">
                <a:solidFill>
                  <a:schemeClr val="tx2"/>
                </a:solidFill>
              </a:rPr>
              <a:t>ruolo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dell'utente</a:t>
            </a:r>
            <a:r>
              <a:rPr lang="en-US" sz="1700" dirty="0">
                <a:solidFill>
                  <a:schemeClr val="tx2"/>
                </a:solidFill>
              </a:rPr>
              <a:t> (Admin/Member) </a:t>
            </a:r>
            <a:r>
              <a:rPr lang="en-US" sz="1700" dirty="0" err="1">
                <a:solidFill>
                  <a:schemeClr val="tx2"/>
                </a:solidFill>
              </a:rPr>
              <a:t>mostrando</a:t>
            </a:r>
            <a:r>
              <a:rPr lang="en-US" sz="1700" dirty="0">
                <a:solidFill>
                  <a:schemeClr val="tx2"/>
                </a:solidFill>
              </a:rPr>
              <a:t> o </a:t>
            </a:r>
            <a:r>
              <a:rPr lang="en-US" sz="1700" dirty="0" err="1">
                <a:solidFill>
                  <a:schemeClr val="tx2"/>
                </a:solidFill>
              </a:rPr>
              <a:t>nascondendo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azioni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critiche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2D25172-1CF9-9A56-75AE-267AC43F3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473" y="2228967"/>
            <a:ext cx="6735272" cy="356969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D1A962B-B6DF-AB53-5239-CF16BA569CE3}"/>
              </a:ext>
            </a:extLst>
          </p:cNvPr>
          <p:cNvSpPr txBox="1"/>
          <p:nvPr/>
        </p:nvSpPr>
        <p:spPr>
          <a:xfrm>
            <a:off x="5091486" y="948585"/>
            <a:ext cx="5707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Il client è stato sviluppato seguendo il paradigma della </a:t>
            </a:r>
            <a:r>
              <a:rPr lang="it-IT" b="1" dirty="0">
                <a:solidFill>
                  <a:schemeClr val="tx2"/>
                </a:solidFill>
              </a:rPr>
              <a:t>component </a:t>
            </a:r>
            <a:r>
              <a:rPr lang="it-IT" b="1" dirty="0" err="1">
                <a:solidFill>
                  <a:schemeClr val="tx2"/>
                </a:solidFill>
              </a:rPr>
              <a:t>based</a:t>
            </a:r>
            <a:r>
              <a:rPr lang="it-IT" b="1" dirty="0">
                <a:solidFill>
                  <a:schemeClr val="tx2"/>
                </a:solidFill>
              </a:rPr>
              <a:t> </a:t>
            </a:r>
            <a:r>
              <a:rPr lang="it-IT" b="1" dirty="0" err="1">
                <a:solidFill>
                  <a:schemeClr val="tx2"/>
                </a:solidFill>
              </a:rPr>
              <a:t>architecture</a:t>
            </a:r>
            <a:r>
              <a:rPr lang="it-IT" dirty="0">
                <a:solidFill>
                  <a:schemeClr val="tx2"/>
                </a:solidFill>
              </a:rPr>
              <a:t>. L’interfaccia utente è suddivisa in </a:t>
            </a:r>
            <a:r>
              <a:rPr lang="it-IT" b="1" dirty="0">
                <a:solidFill>
                  <a:schemeClr val="tx2"/>
                </a:solidFill>
              </a:rPr>
              <a:t>componenti funzionali riutilizzabili</a:t>
            </a:r>
            <a:r>
              <a:rPr lang="it-IT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233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B62618-0D02-4C29-88C5-1EDF7F32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2747F4-A0AE-425C-B527-E3E32461F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7F29A-1576-479E-B227-0D649860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7B26C7-6F2F-453C-9C08-71E199E5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0B3A673-31A0-AC84-5541-9A0653FAB4E8}"/>
              </a:ext>
            </a:extLst>
          </p:cNvPr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cap="all">
                <a:solidFill>
                  <a:srgbClr val="FFFEFF"/>
                </a:solidFill>
                <a:latin typeface="+mj-lt"/>
                <a:ea typeface="+mj-ea"/>
                <a:cs typeface="+mj-cs"/>
              </a:rPr>
              <a:t>Networking e Comunicazione REST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347DF18-4296-6AB5-F212-2BDAF02F3DEC}"/>
              </a:ext>
            </a:extLst>
          </p:cNvPr>
          <p:cNvSpPr txBox="1"/>
          <p:nvPr/>
        </p:nvSpPr>
        <p:spPr>
          <a:xfrm>
            <a:off x="2395232" y="2293187"/>
            <a:ext cx="7396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>
                <a:solidFill>
                  <a:schemeClr val="tx2"/>
                </a:solidFill>
              </a:rPr>
              <a:t>La comunicazione tra </a:t>
            </a:r>
            <a:r>
              <a:rPr lang="it-IT" b="1" dirty="0">
                <a:solidFill>
                  <a:schemeClr val="tx2"/>
                </a:solidFill>
              </a:rPr>
              <a:t>Front-end</a:t>
            </a:r>
            <a:r>
              <a:rPr lang="it-IT" dirty="0">
                <a:solidFill>
                  <a:schemeClr val="tx2"/>
                </a:solidFill>
              </a:rPr>
              <a:t> e </a:t>
            </a:r>
            <a:r>
              <a:rPr lang="it-IT" b="1" dirty="0">
                <a:solidFill>
                  <a:schemeClr val="tx2"/>
                </a:solidFill>
              </a:rPr>
              <a:t>Back-end</a:t>
            </a:r>
            <a:r>
              <a:rPr lang="it-IT" dirty="0">
                <a:solidFill>
                  <a:schemeClr val="tx2"/>
                </a:solidFill>
              </a:rPr>
              <a:t> avviene interamente tramite chiamate HTTP asincrone verso API </a:t>
            </a:r>
            <a:r>
              <a:rPr lang="it-IT" dirty="0" err="1">
                <a:solidFill>
                  <a:schemeClr val="tx2"/>
                </a:solidFill>
              </a:rPr>
              <a:t>RESTful</a:t>
            </a:r>
            <a:r>
              <a:rPr lang="it-IT" dirty="0">
                <a:solidFill>
                  <a:schemeClr val="tx2"/>
                </a:solidFill>
              </a:rPr>
              <a:t> esposte in formato </a:t>
            </a:r>
            <a:r>
              <a:rPr lang="it-IT" b="1" dirty="0">
                <a:solidFill>
                  <a:schemeClr val="tx2"/>
                </a:solidFill>
              </a:rPr>
              <a:t>JSON</a:t>
            </a:r>
            <a:r>
              <a:rPr lang="it-IT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63A5E59-8607-CC62-9646-E979D38DC3B4}"/>
              </a:ext>
            </a:extLst>
          </p:cNvPr>
          <p:cNvSpPr txBox="1"/>
          <p:nvPr/>
        </p:nvSpPr>
        <p:spPr>
          <a:xfrm>
            <a:off x="1576562" y="3429000"/>
            <a:ext cx="90338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tx2"/>
                </a:solidFill>
              </a:rPr>
              <a:t>Astrazione del Networking</a:t>
            </a:r>
            <a:r>
              <a:rPr lang="it-IT" dirty="0">
                <a:solidFill>
                  <a:schemeClr val="tx2"/>
                </a:solidFill>
              </a:rPr>
              <a:t>: Le richieste non sono cablate nei </a:t>
            </a:r>
            <a:r>
              <a:rPr lang="it-IT" b="1" dirty="0">
                <a:solidFill>
                  <a:schemeClr val="tx2"/>
                </a:solidFill>
              </a:rPr>
              <a:t>componenti visivi</a:t>
            </a:r>
            <a:r>
              <a:rPr lang="it-IT" dirty="0">
                <a:solidFill>
                  <a:schemeClr val="tx2"/>
                </a:solidFill>
              </a:rPr>
              <a:t>, ma delegate a un'istanza centralizzata di </a:t>
            </a:r>
            <a:r>
              <a:rPr lang="it-IT" b="1" dirty="0">
                <a:solidFill>
                  <a:schemeClr val="tx2"/>
                </a:solidFill>
              </a:rPr>
              <a:t>Axios</a:t>
            </a:r>
            <a:r>
              <a:rPr lang="it-IT" dirty="0">
                <a:solidFill>
                  <a:schemeClr val="tx2"/>
                </a:solidFill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tx2"/>
                </a:solidFill>
              </a:rPr>
              <a:t>Iniezione Sicura (</a:t>
            </a:r>
            <a:r>
              <a:rPr lang="it-IT" b="1" dirty="0" err="1">
                <a:solidFill>
                  <a:schemeClr val="tx2"/>
                </a:solidFill>
              </a:rPr>
              <a:t>Interceptors</a:t>
            </a:r>
            <a:r>
              <a:rPr lang="it-IT" b="1" dirty="0">
                <a:solidFill>
                  <a:schemeClr val="tx2"/>
                </a:solidFill>
              </a:rPr>
              <a:t>)</a:t>
            </a:r>
            <a:r>
              <a:rPr lang="it-IT" dirty="0">
                <a:solidFill>
                  <a:schemeClr val="tx2"/>
                </a:solidFill>
              </a:rPr>
              <a:t>:</a:t>
            </a:r>
            <a:r>
              <a:rPr lang="it-IT" b="1" dirty="0">
                <a:solidFill>
                  <a:schemeClr val="tx2"/>
                </a:solidFill>
              </a:rPr>
              <a:t> </a:t>
            </a:r>
            <a:r>
              <a:rPr lang="it-IT" dirty="0">
                <a:solidFill>
                  <a:schemeClr val="tx2"/>
                </a:solidFill>
              </a:rPr>
              <a:t>Utilizzo di </a:t>
            </a:r>
            <a:r>
              <a:rPr lang="it-IT" b="1" dirty="0" err="1">
                <a:solidFill>
                  <a:schemeClr val="tx2"/>
                </a:solidFill>
              </a:rPr>
              <a:t>interceptor</a:t>
            </a:r>
            <a:r>
              <a:rPr lang="it-IT" dirty="0">
                <a:solidFill>
                  <a:schemeClr val="tx2"/>
                </a:solidFill>
              </a:rPr>
              <a:t> di Axios per allegare automaticamente il </a:t>
            </a:r>
            <a:r>
              <a:rPr lang="it-IT" b="1" dirty="0">
                <a:solidFill>
                  <a:schemeClr val="tx2"/>
                </a:solidFill>
              </a:rPr>
              <a:t>token JWT </a:t>
            </a:r>
            <a:r>
              <a:rPr lang="it-IT" dirty="0">
                <a:solidFill>
                  <a:schemeClr val="tx2"/>
                </a:solidFill>
              </a:rPr>
              <a:t>agli </a:t>
            </a:r>
            <a:r>
              <a:rPr lang="it-IT" dirty="0" err="1">
                <a:solidFill>
                  <a:schemeClr val="tx2"/>
                </a:solidFill>
              </a:rPr>
              <a:t>header</a:t>
            </a:r>
            <a:r>
              <a:rPr lang="it-IT" dirty="0">
                <a:solidFill>
                  <a:schemeClr val="tx2"/>
                </a:solidFill>
              </a:rPr>
              <a:t> di ogni richiesta autenticata, mantenendo il codice </a:t>
            </a:r>
            <a:r>
              <a:rPr lang="it-IT" b="1" dirty="0">
                <a:solidFill>
                  <a:schemeClr val="tx2"/>
                </a:solidFill>
              </a:rPr>
              <a:t>pulito</a:t>
            </a:r>
            <a:r>
              <a:rPr lang="it-IT" dirty="0">
                <a:solidFill>
                  <a:schemeClr val="tx2"/>
                </a:solidFill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113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E3108AE-A1CF-C65E-708C-A610EEC2584B}"/>
              </a:ext>
            </a:extLst>
          </p:cNvPr>
          <p:cNvSpPr txBox="1"/>
          <p:nvPr/>
        </p:nvSpPr>
        <p:spPr>
          <a:xfrm>
            <a:off x="581192" y="1507414"/>
            <a:ext cx="5120255" cy="39033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SCELTE  TECNOLOGICHE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BC86AF9-CD1C-68EC-393B-80FB490133D0}"/>
              </a:ext>
            </a:extLst>
          </p:cNvPr>
          <p:cNvSpPr txBox="1"/>
          <p:nvPr/>
        </p:nvSpPr>
        <p:spPr>
          <a:xfrm>
            <a:off x="6005946" y="1507415"/>
            <a:ext cx="5604862" cy="3903331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tx2"/>
                </a:solidFill>
              </a:rPr>
              <a:t>Il Client è </a:t>
            </a:r>
            <a:r>
              <a:rPr lang="en-US" sz="1700" dirty="0" err="1">
                <a:solidFill>
                  <a:schemeClr val="tx2"/>
                </a:solidFill>
              </a:rPr>
              <a:t>stato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sviluppato</a:t>
            </a:r>
            <a:r>
              <a:rPr lang="en-US" sz="1700" dirty="0">
                <a:solidFill>
                  <a:schemeClr val="tx2"/>
                </a:solidFill>
              </a:rPr>
              <a:t> con React + Typescript per </a:t>
            </a:r>
            <a:r>
              <a:rPr lang="en-US" sz="1700" dirty="0" err="1">
                <a:solidFill>
                  <a:schemeClr val="tx2"/>
                </a:solidFill>
              </a:rPr>
              <a:t>prevenire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errori</a:t>
            </a:r>
            <a:r>
              <a:rPr lang="en-US" sz="1700" dirty="0">
                <a:solidFill>
                  <a:schemeClr val="tx2"/>
                </a:solidFill>
              </a:rPr>
              <a:t> a runtime e </a:t>
            </a:r>
            <a:r>
              <a:rPr lang="en-US" sz="1700" dirty="0" err="1">
                <a:solidFill>
                  <a:schemeClr val="tx2"/>
                </a:solidFill>
              </a:rPr>
              <a:t>garantire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un’alta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velocità</a:t>
            </a:r>
            <a:r>
              <a:rPr lang="en-US" sz="1700" dirty="0">
                <a:solidFill>
                  <a:schemeClr val="tx2"/>
                </a:solidFill>
              </a:rPr>
              <a:t> di build.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tx2"/>
                </a:solidFill>
              </a:rPr>
              <a:t>È </a:t>
            </a:r>
            <a:r>
              <a:rPr lang="en-US" sz="1700" dirty="0" err="1">
                <a:solidFill>
                  <a:schemeClr val="tx2"/>
                </a:solidFill>
              </a:rPr>
              <a:t>stato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creato</a:t>
            </a:r>
            <a:r>
              <a:rPr lang="en-US" sz="1700" dirty="0">
                <a:solidFill>
                  <a:schemeClr val="tx2"/>
                </a:solidFill>
              </a:rPr>
              <a:t> un </a:t>
            </a:r>
            <a:r>
              <a:rPr lang="en-US" sz="1700" dirty="0" err="1">
                <a:solidFill>
                  <a:schemeClr val="tx2"/>
                </a:solidFill>
              </a:rPr>
              <a:t>sistema</a:t>
            </a:r>
            <a:r>
              <a:rPr lang="en-US" sz="1700" dirty="0">
                <a:solidFill>
                  <a:schemeClr val="tx2"/>
                </a:solidFill>
              </a:rPr>
              <a:t> con design </a:t>
            </a:r>
            <a:r>
              <a:rPr lang="en-US" sz="1700" dirty="0" err="1">
                <a:solidFill>
                  <a:schemeClr val="tx2"/>
                </a:solidFill>
              </a:rPr>
              <a:t>personalizzato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tramite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l’uso</a:t>
            </a:r>
            <a:r>
              <a:rPr lang="en-US" sz="1700" dirty="0">
                <a:solidFill>
                  <a:schemeClr val="tx2"/>
                </a:solidFill>
              </a:rPr>
              <a:t> di CSS Nativo, </a:t>
            </a:r>
            <a:r>
              <a:rPr lang="en-US" sz="1700" dirty="0" err="1">
                <a:solidFill>
                  <a:schemeClr val="tx2"/>
                </a:solidFill>
              </a:rPr>
              <a:t>evitando</a:t>
            </a:r>
            <a:r>
              <a:rPr lang="en-US" sz="1700" dirty="0">
                <a:solidFill>
                  <a:schemeClr val="tx2"/>
                </a:solidFill>
              </a:rPr>
              <a:t> il </a:t>
            </a:r>
            <a:r>
              <a:rPr lang="en-US" sz="1700" dirty="0" err="1">
                <a:solidFill>
                  <a:schemeClr val="tx2"/>
                </a:solidFill>
              </a:rPr>
              <a:t>sovraccarico</a:t>
            </a:r>
            <a:r>
              <a:rPr lang="en-US" sz="1700" dirty="0">
                <a:solidFill>
                  <a:schemeClr val="tx2"/>
                </a:solidFill>
              </a:rPr>
              <a:t> di </a:t>
            </a:r>
            <a:r>
              <a:rPr lang="en-US" sz="1700" dirty="0" err="1">
                <a:solidFill>
                  <a:schemeClr val="tx2"/>
                </a:solidFill>
              </a:rPr>
              <a:t>librerie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esterne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tx2"/>
                </a:solidFill>
              </a:rPr>
              <a:t>Il Server è </a:t>
            </a:r>
            <a:r>
              <a:rPr lang="en-US" sz="1700" dirty="0" err="1">
                <a:solidFill>
                  <a:schemeClr val="tx2"/>
                </a:solidFill>
              </a:rPr>
              <a:t>stato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sviluppato</a:t>
            </a:r>
            <a:r>
              <a:rPr lang="en-US" sz="1700" dirty="0">
                <a:solidFill>
                  <a:schemeClr val="tx2"/>
                </a:solidFill>
              </a:rPr>
              <a:t> con framework Express per </a:t>
            </a:r>
            <a:r>
              <a:rPr lang="en-US" sz="1700" dirty="0" err="1">
                <a:solidFill>
                  <a:schemeClr val="tx2"/>
                </a:solidFill>
              </a:rPr>
              <a:t>esporre</a:t>
            </a:r>
            <a:r>
              <a:rPr lang="en-US" sz="1700" dirty="0">
                <a:solidFill>
                  <a:schemeClr val="tx2"/>
                </a:solidFill>
              </a:rPr>
              <a:t> le API in un </a:t>
            </a:r>
            <a:r>
              <a:rPr lang="en-US" sz="1700" dirty="0" err="1">
                <a:solidFill>
                  <a:schemeClr val="tx2"/>
                </a:solidFill>
              </a:rPr>
              <a:t>ambiente</a:t>
            </a:r>
            <a:r>
              <a:rPr lang="en-US" sz="1700" dirty="0">
                <a:solidFill>
                  <a:schemeClr val="tx2"/>
                </a:solidFill>
              </a:rPr>
              <a:t> di </a:t>
            </a:r>
            <a:r>
              <a:rPr lang="en-US" sz="1700" dirty="0" err="1">
                <a:solidFill>
                  <a:schemeClr val="tx2"/>
                </a:solidFill>
              </a:rPr>
              <a:t>esecuzione</a:t>
            </a:r>
            <a:r>
              <a:rPr lang="en-US" sz="1700" dirty="0">
                <a:solidFill>
                  <a:schemeClr val="tx2"/>
                </a:solidFill>
              </a:rPr>
              <a:t> Node.js.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tx2"/>
                </a:solidFill>
              </a:rPr>
              <a:t>Jest </a:t>
            </a:r>
            <a:r>
              <a:rPr lang="en-US" sz="1700" dirty="0" err="1">
                <a:solidFill>
                  <a:schemeClr val="tx2"/>
                </a:solidFill>
              </a:rPr>
              <a:t>utilizzato</a:t>
            </a:r>
            <a:r>
              <a:rPr lang="en-US" sz="1700" dirty="0">
                <a:solidFill>
                  <a:schemeClr val="tx2"/>
                </a:solidFill>
              </a:rPr>
              <a:t> come framework </a:t>
            </a:r>
            <a:r>
              <a:rPr lang="en-US" sz="1700" dirty="0" err="1">
                <a:solidFill>
                  <a:schemeClr val="tx2"/>
                </a:solidFill>
              </a:rPr>
              <a:t>xUnit</a:t>
            </a:r>
            <a:r>
              <a:rPr lang="en-US" sz="1700" dirty="0">
                <a:solidFill>
                  <a:schemeClr val="tx2"/>
                </a:solidFill>
              </a:rPr>
              <a:t> per test di </a:t>
            </a:r>
            <a:r>
              <a:rPr lang="en-US" sz="1700" dirty="0" err="1">
                <a:solidFill>
                  <a:schemeClr val="tx2"/>
                </a:solidFill>
              </a:rPr>
              <a:t>unità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isolati</a:t>
            </a:r>
            <a:r>
              <a:rPr lang="en-US" sz="1700" dirty="0">
                <a:solidFill>
                  <a:schemeClr val="tx2"/>
                </a:solidFill>
              </a:rPr>
              <a:t> e ad </a:t>
            </a:r>
            <a:r>
              <a:rPr lang="en-US" sz="1700" dirty="0" err="1">
                <a:solidFill>
                  <a:schemeClr val="tx2"/>
                </a:solidFill>
              </a:rPr>
              <a:t>altissime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prestazioni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 err="1">
                <a:solidFill>
                  <a:schemeClr val="tx2"/>
                </a:solidFill>
              </a:rPr>
              <a:t>Containerizzazione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dell’applicativo</a:t>
            </a:r>
            <a:r>
              <a:rPr lang="en-US" sz="1700" dirty="0">
                <a:solidFill>
                  <a:schemeClr val="tx2"/>
                </a:solidFill>
              </a:rPr>
              <a:t> e del database per </a:t>
            </a:r>
            <a:r>
              <a:rPr lang="en-US" sz="1700" dirty="0" err="1">
                <a:solidFill>
                  <a:schemeClr val="tx2"/>
                </a:solidFill>
              </a:rPr>
              <a:t>garantire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una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totale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riproducibilità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dell’ambiente</a:t>
            </a:r>
            <a:r>
              <a:rPr lang="en-US" sz="1700" dirty="0">
                <a:solidFill>
                  <a:schemeClr val="tx2"/>
                </a:solidFill>
              </a:rPr>
              <a:t> di </a:t>
            </a:r>
            <a:r>
              <a:rPr lang="en-US" sz="1700" dirty="0" err="1">
                <a:solidFill>
                  <a:schemeClr val="tx2"/>
                </a:solidFill>
              </a:rPr>
              <a:t>collaudo</a:t>
            </a:r>
            <a:r>
              <a:rPr lang="en-US" sz="1700" dirty="0">
                <a:solidFill>
                  <a:schemeClr val="tx2"/>
                </a:solidFill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tramite</a:t>
            </a:r>
            <a:r>
              <a:rPr lang="en-US" sz="1700" dirty="0">
                <a:solidFill>
                  <a:schemeClr val="tx2"/>
                </a:solidFill>
              </a:rPr>
              <a:t> Docker.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330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5B859AB-D4F3-B525-C114-7D5F5FABCD0A}"/>
              </a:ext>
            </a:extLst>
          </p:cNvPr>
          <p:cNvSpPr txBox="1"/>
          <p:nvPr/>
        </p:nvSpPr>
        <p:spPr>
          <a:xfrm>
            <a:off x="4449960" y="1507414"/>
            <a:ext cx="7295507" cy="3703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427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ADDB9E1-AB12-462E-8E0D-83CA31C6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4040EB-4842-44D5-9380-BDF41FB7B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48A70C3-5B2C-5F9F-D485-5C0993A15A93}"/>
              </a:ext>
            </a:extLst>
          </p:cNvPr>
          <p:cNvSpPr txBox="1"/>
          <p:nvPr/>
        </p:nvSpPr>
        <p:spPr>
          <a:xfrm>
            <a:off x="803189" y="1209184"/>
            <a:ext cx="3089189" cy="4734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Strumenti di versioning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076E08-C160-41E7-8D09-E2436B59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A65B62-07C4-4876-A101-9C85F48A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2BCE7C-4E97-4627-9FD1-DD7B633E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5C778F-C631-F03A-F112-4F53ACC0F43C}"/>
              </a:ext>
            </a:extLst>
          </p:cNvPr>
          <p:cNvSpPr txBox="1"/>
          <p:nvPr/>
        </p:nvSpPr>
        <p:spPr>
          <a:xfrm>
            <a:off x="4764907" y="1424804"/>
            <a:ext cx="6826941" cy="2093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 Per la </a:t>
            </a:r>
            <a:r>
              <a:rPr lang="en-US" dirty="0" err="1">
                <a:solidFill>
                  <a:schemeClr val="tx2"/>
                </a:solidFill>
              </a:rPr>
              <a:t>gestione</a:t>
            </a:r>
            <a:r>
              <a:rPr lang="en-US" dirty="0">
                <a:solidFill>
                  <a:schemeClr val="tx2"/>
                </a:solidFill>
              </a:rPr>
              <a:t> del versioning del </a:t>
            </a:r>
            <a:r>
              <a:rPr lang="en-US" dirty="0" err="1">
                <a:solidFill>
                  <a:schemeClr val="tx2"/>
                </a:solidFill>
              </a:rPr>
              <a:t>codice</a:t>
            </a:r>
            <a:r>
              <a:rPr lang="en-US" dirty="0">
                <a:solidFill>
                  <a:schemeClr val="tx2"/>
                </a:solidFill>
              </a:rPr>
              <a:t> è </a:t>
            </a:r>
            <a:r>
              <a:rPr lang="en-US" dirty="0" err="1">
                <a:solidFill>
                  <a:schemeClr val="tx2"/>
                </a:solidFill>
              </a:rPr>
              <a:t>stato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utilizzato</a:t>
            </a:r>
            <a:r>
              <a:rPr lang="en-US" dirty="0">
                <a:solidFill>
                  <a:schemeClr val="tx2"/>
                </a:solidFill>
              </a:rPr>
              <a:t> Git come </a:t>
            </a:r>
            <a:r>
              <a:rPr lang="en-US" dirty="0" err="1">
                <a:solidFill>
                  <a:schemeClr val="tx2"/>
                </a:solidFill>
              </a:rPr>
              <a:t>sistema</a:t>
            </a:r>
            <a:r>
              <a:rPr lang="en-US" dirty="0">
                <a:solidFill>
                  <a:schemeClr val="tx2"/>
                </a:solidFill>
              </a:rPr>
              <a:t> di </a:t>
            </a:r>
            <a:r>
              <a:rPr lang="en-US" dirty="0" err="1">
                <a:solidFill>
                  <a:schemeClr val="tx2"/>
                </a:solidFill>
              </a:rPr>
              <a:t>controllo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distribuito</a:t>
            </a:r>
            <a:r>
              <a:rPr lang="en-US" dirty="0">
                <a:solidFill>
                  <a:schemeClr val="tx2"/>
                </a:solidFill>
              </a:rPr>
              <a:t> e GitHub come </a:t>
            </a:r>
            <a:r>
              <a:rPr lang="en-US" dirty="0" err="1">
                <a:solidFill>
                  <a:schemeClr val="tx2"/>
                </a:solidFill>
              </a:rPr>
              <a:t>piattaforma</a:t>
            </a:r>
            <a:r>
              <a:rPr lang="en-US" dirty="0">
                <a:solidFill>
                  <a:schemeClr val="tx2"/>
                </a:solidFill>
              </a:rPr>
              <a:t> di hosting </a:t>
            </a:r>
            <a:r>
              <a:rPr lang="en-US" dirty="0" err="1">
                <a:solidFill>
                  <a:schemeClr val="tx2"/>
                </a:solidFill>
              </a:rPr>
              <a:t>remoto</a:t>
            </a:r>
            <a:r>
              <a:rPr lang="en-US" dirty="0">
                <a:solidFill>
                  <a:schemeClr val="tx2"/>
                </a:solidFill>
              </a:rPr>
              <a:t>, in modo tale da </a:t>
            </a:r>
            <a:r>
              <a:rPr lang="en-US" dirty="0" err="1">
                <a:solidFill>
                  <a:schemeClr val="tx2"/>
                </a:solidFill>
              </a:rPr>
              <a:t>garantire</a:t>
            </a:r>
            <a:r>
              <a:rPr lang="en-US" dirty="0">
                <a:solidFill>
                  <a:schemeClr val="tx2"/>
                </a:solidFill>
              </a:rPr>
              <a:t> la </a:t>
            </a:r>
            <a:r>
              <a:rPr lang="en-US" dirty="0" err="1">
                <a:solidFill>
                  <a:schemeClr val="tx2"/>
                </a:solidFill>
              </a:rPr>
              <a:t>tracciabilità</a:t>
            </a:r>
            <a:r>
              <a:rPr lang="en-US" dirty="0">
                <a:solidFill>
                  <a:schemeClr val="tx2"/>
                </a:solidFill>
              </a:rPr>
              <a:t> delle </a:t>
            </a:r>
            <a:r>
              <a:rPr lang="en-US" dirty="0" err="1">
                <a:solidFill>
                  <a:schemeClr val="tx2"/>
                </a:solidFill>
              </a:rPr>
              <a:t>modifiche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810EB93-3B64-BC5B-5433-5A335FCB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476" y="3429000"/>
            <a:ext cx="5735348" cy="209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0459F3D-58B1-ACA7-B4CA-4E8F68B89AA7}"/>
              </a:ext>
            </a:extLst>
          </p:cNvPr>
          <p:cNvSpPr txBox="1"/>
          <p:nvPr/>
        </p:nvSpPr>
        <p:spPr>
          <a:xfrm>
            <a:off x="581192" y="1507414"/>
            <a:ext cx="5120255" cy="39033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Report di qualità del codice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950FF7C-87B1-7548-EF05-23A0EA0F1686}"/>
              </a:ext>
            </a:extLst>
          </p:cNvPr>
          <p:cNvSpPr txBox="1"/>
          <p:nvPr/>
        </p:nvSpPr>
        <p:spPr>
          <a:xfrm>
            <a:off x="6400800" y="1507415"/>
            <a:ext cx="5210007" cy="3903331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>
                <a:solidFill>
                  <a:schemeClr val="tx2"/>
                </a:solidFill>
              </a:rPr>
              <a:t>È stata utilizzata la piattaforma SonarQube per ottenere un report dettagliato sulla qualità del codice.  A seguito dell'analisi sono stati riscontrati i seguenti problemi, successivamente risolti: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>
                <a:solidFill>
                  <a:schemeClr val="tx2"/>
                </a:solidFill>
              </a:rPr>
              <a:t>Security hotspot: non era stato applicato un limite al caricamento delle immagini, ciò esponeva l’applicativo a potenziali attacchi DoS, successivamente risolto con Multer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>
                <a:solidFill>
                  <a:schemeClr val="tx2"/>
                </a:solidFill>
              </a:rPr>
              <a:t>Code smells: erano presenti 6 code smells riguardanti importazioni di librerie che non erano utilizzate, poi rimosse.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909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5A78005C-B343-A9BA-D495-3C7F37CA3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12" y="1921733"/>
            <a:ext cx="5066275" cy="447363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76CFFE-7361-D6A0-3371-4CE92446D6EF}"/>
              </a:ext>
            </a:extLst>
          </p:cNvPr>
          <p:cNvSpPr txBox="1"/>
          <p:nvPr/>
        </p:nvSpPr>
        <p:spPr>
          <a:xfrm>
            <a:off x="536971" y="877641"/>
            <a:ext cx="9139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tx2"/>
                </a:solidFill>
                <a:latin typeface="+mj-lt"/>
              </a:rPr>
              <a:t>DOCUMENTAZIONE E  CONTAINERIZZAZIONE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93FE9C-2C0D-B1FC-1936-42D7F833FB63}"/>
              </a:ext>
            </a:extLst>
          </p:cNvPr>
          <p:cNvSpPr txBox="1"/>
          <p:nvPr/>
        </p:nvSpPr>
        <p:spPr>
          <a:xfrm>
            <a:off x="5878457" y="1825425"/>
            <a:ext cx="60433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it-IT" b="1" dirty="0">
                <a:solidFill>
                  <a:schemeClr val="tx2"/>
                </a:solidFill>
              </a:rPr>
              <a:t>Documentazione API:</a:t>
            </a:r>
            <a:r>
              <a:rPr lang="it-IT" dirty="0">
                <a:solidFill>
                  <a:schemeClr val="tx2"/>
                </a:solidFill>
              </a:rPr>
              <a:t> Endpoint documentati tramite </a:t>
            </a:r>
            <a:r>
              <a:rPr lang="it-IT" b="1" dirty="0">
                <a:solidFill>
                  <a:schemeClr val="tx2"/>
                </a:solidFill>
              </a:rPr>
              <a:t>Swagger</a:t>
            </a:r>
            <a:r>
              <a:rPr lang="it-IT" dirty="0">
                <a:solidFill>
                  <a:schemeClr val="tx2"/>
                </a:solidFill>
              </a:rPr>
              <a:t> (</a:t>
            </a:r>
            <a:r>
              <a:rPr lang="it-IT" dirty="0" err="1">
                <a:solidFill>
                  <a:schemeClr val="tx2"/>
                </a:solidFill>
              </a:rPr>
              <a:t>OpenAPI</a:t>
            </a:r>
            <a:r>
              <a:rPr lang="it-IT" dirty="0">
                <a:solidFill>
                  <a:schemeClr val="tx2"/>
                </a:solidFill>
              </a:rPr>
              <a:t>) come "contratto" di comunicazione.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it-IT" b="1" dirty="0" err="1">
                <a:solidFill>
                  <a:schemeClr val="tx2"/>
                </a:solidFill>
              </a:rPr>
              <a:t>DevOps</a:t>
            </a:r>
            <a:r>
              <a:rPr lang="it-IT" b="1" dirty="0">
                <a:solidFill>
                  <a:schemeClr val="tx2"/>
                </a:solidFill>
              </a:rPr>
              <a:t> (Docker):</a:t>
            </a:r>
            <a:r>
              <a:rPr lang="it-IT" dirty="0">
                <a:solidFill>
                  <a:schemeClr val="tx2"/>
                </a:solidFill>
              </a:rPr>
              <a:t> Infrastruttura </a:t>
            </a:r>
            <a:r>
              <a:rPr lang="it-IT" dirty="0" err="1">
                <a:solidFill>
                  <a:schemeClr val="tx2"/>
                </a:solidFill>
              </a:rPr>
              <a:t>backend</a:t>
            </a:r>
            <a:r>
              <a:rPr lang="it-IT" dirty="0">
                <a:solidFill>
                  <a:schemeClr val="tx2"/>
                </a:solidFill>
              </a:rPr>
              <a:t> e database containerizzati tramite </a:t>
            </a:r>
            <a:r>
              <a:rPr lang="it-IT" b="1" dirty="0" err="1">
                <a:solidFill>
                  <a:schemeClr val="tx2"/>
                </a:solidFill>
              </a:rPr>
              <a:t>docker</a:t>
            </a:r>
            <a:r>
              <a:rPr lang="it-IT" b="1" dirty="0">
                <a:solidFill>
                  <a:schemeClr val="tx2"/>
                </a:solidFill>
              </a:rPr>
              <a:t>-compose</a:t>
            </a:r>
            <a:r>
              <a:rPr lang="it-IT" dirty="0">
                <a:solidFill>
                  <a:schemeClr val="tx2"/>
                </a:solidFill>
              </a:rPr>
              <a:t> per una totale riproducibilità ambientale.</a:t>
            </a:r>
          </a:p>
          <a:p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BEA436CA-1D4E-EC08-ABCA-93494236D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955" y="4206724"/>
            <a:ext cx="1951190" cy="90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1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1F3599F-B95B-0592-A081-463FDF3F3E0B}"/>
              </a:ext>
            </a:extLst>
          </p:cNvPr>
          <p:cNvSpPr txBox="1"/>
          <p:nvPr/>
        </p:nvSpPr>
        <p:spPr>
          <a:xfrm>
            <a:off x="4449960" y="1507414"/>
            <a:ext cx="7295507" cy="3703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Testing &amp; Valutazione Usabilità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17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ADDB9E1-AB12-462E-8E0D-83CA31C6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4040EB-4842-44D5-9380-BDF41FB7B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CE58D14-5DBF-9A25-F04A-9334F0151053}"/>
              </a:ext>
            </a:extLst>
          </p:cNvPr>
          <p:cNvSpPr txBox="1"/>
          <p:nvPr/>
        </p:nvSpPr>
        <p:spPr>
          <a:xfrm>
            <a:off x="803189" y="1209184"/>
            <a:ext cx="3089189" cy="4734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Testing Black-box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076E08-C160-41E7-8D09-E2436B59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A65B62-07C4-4876-A101-9C85F48A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2BCE7C-4E97-4627-9FD1-DD7B633E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EA9B15-54AD-4237-6EF3-13A022EE56BD}"/>
              </a:ext>
            </a:extLst>
          </p:cNvPr>
          <p:cNvSpPr txBox="1"/>
          <p:nvPr/>
        </p:nvSpPr>
        <p:spPr>
          <a:xfrm>
            <a:off x="4561870" y="723900"/>
            <a:ext cx="7183597" cy="3252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>
                <a:solidFill>
                  <a:schemeClr val="tx2"/>
                </a:solidFill>
              </a:rPr>
              <a:t>È </a:t>
            </a:r>
            <a:r>
              <a:rPr lang="en-US" dirty="0" err="1">
                <a:solidFill>
                  <a:schemeClr val="tx2"/>
                </a:solidFill>
              </a:rPr>
              <a:t>una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metodologia</a:t>
            </a:r>
            <a:r>
              <a:rPr lang="en-US" dirty="0">
                <a:solidFill>
                  <a:schemeClr val="tx2"/>
                </a:solidFill>
              </a:rPr>
              <a:t> di testing </a:t>
            </a:r>
            <a:r>
              <a:rPr lang="en-US" dirty="0" err="1">
                <a:solidFill>
                  <a:schemeClr val="tx2"/>
                </a:solidFill>
              </a:rPr>
              <a:t>che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verifica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che</a:t>
            </a:r>
            <a:r>
              <a:rPr lang="en-US" dirty="0">
                <a:solidFill>
                  <a:schemeClr val="tx2"/>
                </a:solidFill>
              </a:rPr>
              <a:t> il </a:t>
            </a:r>
            <a:r>
              <a:rPr lang="en-US" dirty="0" err="1">
                <a:solidFill>
                  <a:schemeClr val="tx2"/>
                </a:solidFill>
              </a:rPr>
              <a:t>sistema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soddisfi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requisiti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specificati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analizzando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esclusivamente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input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b="1" dirty="0">
                <a:solidFill>
                  <a:schemeClr val="tx2"/>
                </a:solidFill>
              </a:rPr>
              <a:t>output</a:t>
            </a:r>
            <a:r>
              <a:rPr lang="en-US" dirty="0">
                <a:solidFill>
                  <a:schemeClr val="tx2"/>
                </a:solidFill>
              </a:rPr>
              <a:t> e </a:t>
            </a:r>
            <a:r>
              <a:rPr lang="en-US" b="1" dirty="0" err="1">
                <a:solidFill>
                  <a:schemeClr val="tx2"/>
                </a:solidFill>
              </a:rPr>
              <a:t>comportamento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esterno</a:t>
            </a:r>
            <a:r>
              <a:rPr lang="en-US" dirty="0">
                <a:solidFill>
                  <a:schemeClr val="tx2"/>
                </a:solidFill>
              </a:rPr>
              <a:t>, senza alcuna </a:t>
            </a:r>
            <a:r>
              <a:rPr lang="en-US" dirty="0" err="1">
                <a:solidFill>
                  <a:schemeClr val="tx2"/>
                </a:solidFill>
              </a:rPr>
              <a:t>conoscenza</a:t>
            </a:r>
            <a:r>
              <a:rPr lang="en-US" dirty="0">
                <a:solidFill>
                  <a:schemeClr val="tx2"/>
                </a:solidFill>
              </a:rPr>
              <a:t> della </a:t>
            </a:r>
            <a:r>
              <a:rPr lang="en-US" dirty="0" err="1">
                <a:solidFill>
                  <a:schemeClr val="tx2"/>
                </a:solidFill>
              </a:rPr>
              <a:t>struttura</a:t>
            </a:r>
            <a:r>
              <a:rPr lang="en-US" dirty="0">
                <a:solidFill>
                  <a:schemeClr val="tx2"/>
                </a:solidFill>
              </a:rPr>
              <a:t> interna del </a:t>
            </a:r>
            <a:r>
              <a:rPr lang="en-US" dirty="0" err="1">
                <a:solidFill>
                  <a:schemeClr val="tx2"/>
                </a:solidFill>
              </a:rPr>
              <a:t>codice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 err="1">
                <a:solidFill>
                  <a:schemeClr val="tx2"/>
                </a:solidFill>
              </a:rPr>
              <a:t>Partizionamento</a:t>
            </a:r>
            <a:r>
              <a:rPr lang="en-US" dirty="0">
                <a:solidFill>
                  <a:schemeClr val="tx2"/>
                </a:solidFill>
              </a:rPr>
              <a:t> in </a:t>
            </a:r>
            <a:r>
              <a:rPr lang="en-US" b="1" dirty="0">
                <a:solidFill>
                  <a:schemeClr val="tx2"/>
                </a:solidFill>
              </a:rPr>
              <a:t>Classi di </a:t>
            </a:r>
            <a:r>
              <a:rPr lang="en-US" b="1" dirty="0" err="1">
                <a:solidFill>
                  <a:schemeClr val="tx2"/>
                </a:solidFill>
              </a:rPr>
              <a:t>Equivalenza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con </a:t>
            </a:r>
            <a:r>
              <a:rPr lang="en-US" dirty="0" err="1">
                <a:solidFill>
                  <a:schemeClr val="tx2"/>
                </a:solidFill>
              </a:rPr>
              <a:t>suddivisione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dei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parametri</a:t>
            </a:r>
            <a:r>
              <a:rPr lang="en-US" dirty="0">
                <a:solidFill>
                  <a:schemeClr val="tx2"/>
                </a:solidFill>
              </a:rPr>
              <a:t> di </a:t>
            </a:r>
            <a:r>
              <a:rPr lang="en-US" dirty="0" err="1">
                <a:solidFill>
                  <a:schemeClr val="tx2"/>
                </a:solidFill>
              </a:rPr>
              <a:t>ingresso</a:t>
            </a:r>
            <a:r>
              <a:rPr lang="en-US" dirty="0">
                <a:solidFill>
                  <a:schemeClr val="tx2"/>
                </a:solidFill>
              </a:rPr>
              <a:t> e delle </a:t>
            </a:r>
            <a:r>
              <a:rPr lang="en-US" dirty="0" err="1">
                <a:solidFill>
                  <a:schemeClr val="tx2"/>
                </a:solidFill>
              </a:rPr>
              <a:t>precondizioni</a:t>
            </a:r>
            <a:r>
              <a:rPr lang="en-US" dirty="0">
                <a:solidFill>
                  <a:schemeClr val="tx2"/>
                </a:solidFill>
              </a:rPr>
              <a:t> in </a:t>
            </a:r>
            <a:r>
              <a:rPr lang="en-US" dirty="0" err="1">
                <a:solidFill>
                  <a:schemeClr val="tx2"/>
                </a:solidFill>
              </a:rPr>
              <a:t>classi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valide</a:t>
            </a:r>
            <a:r>
              <a:rPr lang="en-US" dirty="0">
                <a:solidFill>
                  <a:schemeClr val="tx2"/>
                </a:solidFill>
              </a:rPr>
              <a:t> (Happy Path) e non </a:t>
            </a:r>
            <a:r>
              <a:rPr lang="en-US" dirty="0" err="1">
                <a:solidFill>
                  <a:schemeClr val="tx2"/>
                </a:solidFill>
              </a:rPr>
              <a:t>valide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dirty="0" err="1">
                <a:solidFill>
                  <a:schemeClr val="tx2"/>
                </a:solidFill>
              </a:rPr>
              <a:t>Errori</a:t>
            </a:r>
            <a:r>
              <a:rPr lang="en-US" dirty="0">
                <a:solidFill>
                  <a:schemeClr val="tx2"/>
                </a:solidFill>
              </a:rPr>
              <a:t> di Dominio, </a:t>
            </a:r>
            <a:r>
              <a:rPr lang="en-US" dirty="0" err="1">
                <a:solidFill>
                  <a:schemeClr val="tx2"/>
                </a:solidFill>
              </a:rPr>
              <a:t>Violazione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Permessi</a:t>
            </a:r>
            <a:r>
              <a:rPr lang="en-US" dirty="0">
                <a:solidFill>
                  <a:schemeClr val="tx2"/>
                </a:solidFill>
              </a:rPr>
              <a:t>).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 err="1">
                <a:solidFill>
                  <a:schemeClr val="tx2"/>
                </a:solidFill>
              </a:rPr>
              <a:t>Creazione</a:t>
            </a:r>
            <a:r>
              <a:rPr lang="en-US" dirty="0">
                <a:solidFill>
                  <a:schemeClr val="tx2"/>
                </a:solidFill>
              </a:rPr>
              <a:t> di </a:t>
            </a:r>
            <a:r>
              <a:rPr lang="en-US" b="1" dirty="0" err="1">
                <a:solidFill>
                  <a:schemeClr val="tx2"/>
                </a:solidFill>
              </a:rPr>
              <a:t>casi</a:t>
            </a:r>
            <a:r>
              <a:rPr lang="en-US" b="1" dirty="0">
                <a:solidFill>
                  <a:schemeClr val="tx2"/>
                </a:solidFill>
              </a:rPr>
              <a:t> di test </a:t>
            </a:r>
            <a:r>
              <a:rPr lang="en-US" dirty="0" err="1">
                <a:solidFill>
                  <a:schemeClr val="tx2"/>
                </a:solidFill>
              </a:rPr>
              <a:t>specifici</a:t>
            </a:r>
            <a:r>
              <a:rPr lang="en-US" dirty="0">
                <a:solidFill>
                  <a:schemeClr val="tx2"/>
                </a:solidFill>
              </a:rPr>
              <a:t> per </a:t>
            </a:r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metodi</a:t>
            </a:r>
            <a:r>
              <a:rPr lang="en-US" dirty="0">
                <a:solidFill>
                  <a:schemeClr val="tx2"/>
                </a:solidFill>
              </a:rPr>
              <a:t> core del </a:t>
            </a:r>
            <a:r>
              <a:rPr lang="en-US" dirty="0" err="1">
                <a:solidFill>
                  <a:schemeClr val="tx2"/>
                </a:solidFill>
              </a:rPr>
              <a:t>sistema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b="1" dirty="0" err="1">
                <a:solidFill>
                  <a:schemeClr val="tx2"/>
                </a:solidFill>
              </a:rPr>
              <a:t>updateStatus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b="1" dirty="0" err="1">
                <a:solidFill>
                  <a:schemeClr val="tx2"/>
                </a:solidFill>
              </a:rPr>
              <a:t>assignUser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b="1" dirty="0" err="1">
                <a:solidFill>
                  <a:schemeClr val="tx2"/>
                </a:solidFill>
              </a:rPr>
              <a:t>addTag</a:t>
            </a:r>
            <a:r>
              <a:rPr lang="en-US" dirty="0">
                <a:solidFill>
                  <a:schemeClr val="tx2"/>
                </a:solidFill>
              </a:rPr>
              <a:t>), </a:t>
            </a:r>
            <a:r>
              <a:rPr lang="en-US" dirty="0" err="1">
                <a:solidFill>
                  <a:schemeClr val="tx2"/>
                </a:solidFill>
              </a:rPr>
              <a:t>garantendo</a:t>
            </a:r>
            <a:r>
              <a:rPr lang="en-US" dirty="0">
                <a:solidFill>
                  <a:schemeClr val="tx2"/>
                </a:solidFill>
              </a:rPr>
              <a:t> la </a:t>
            </a:r>
            <a:r>
              <a:rPr lang="en-US" dirty="0" err="1">
                <a:solidFill>
                  <a:schemeClr val="tx2"/>
                </a:solidFill>
              </a:rPr>
              <a:t>copertura</a:t>
            </a:r>
            <a:r>
              <a:rPr lang="en-US" dirty="0">
                <a:solidFill>
                  <a:schemeClr val="tx2"/>
                </a:solidFill>
              </a:rPr>
              <a:t> di ogni scenario </a:t>
            </a:r>
            <a:r>
              <a:rPr lang="en-US" dirty="0" err="1">
                <a:solidFill>
                  <a:schemeClr val="tx2"/>
                </a:solidFill>
              </a:rPr>
              <a:t>anomalo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A04110D-3E20-350F-4C12-87C155C98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713" y="4040698"/>
            <a:ext cx="5508953" cy="209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950FCD-5F2A-984B-47C3-0EA7ADCA6011}"/>
              </a:ext>
            </a:extLst>
          </p:cNvPr>
          <p:cNvSpPr txBox="1"/>
          <p:nvPr/>
        </p:nvSpPr>
        <p:spPr>
          <a:xfrm>
            <a:off x="672161" y="982443"/>
            <a:ext cx="4883421" cy="920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Test di </a:t>
            </a:r>
            <a:r>
              <a:rPr lang="en-US" sz="2800" b="1" cap="all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Unità</a:t>
            </a:r>
            <a:r>
              <a:rPr lang="en-US" sz="28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cap="all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Automatici</a:t>
            </a:r>
            <a:endParaRPr lang="en-US" sz="2800" b="1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09850ED-6B7E-4571-1A6F-9FDEFF84A8CA}"/>
              </a:ext>
            </a:extLst>
          </p:cNvPr>
          <p:cNvSpPr txBox="1"/>
          <p:nvPr/>
        </p:nvSpPr>
        <p:spPr>
          <a:xfrm>
            <a:off x="609906" y="2008909"/>
            <a:ext cx="5118949" cy="42346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1600" dirty="0">
                <a:solidFill>
                  <a:schemeClr val="tx2"/>
                </a:solidFill>
              </a:rPr>
              <a:t>Per </a:t>
            </a:r>
            <a:r>
              <a:rPr lang="en-US" sz="1600" dirty="0" err="1">
                <a:solidFill>
                  <a:schemeClr val="tx2"/>
                </a:solidFill>
              </a:rPr>
              <a:t>tradurre</a:t>
            </a:r>
            <a:r>
              <a:rPr lang="en-US" sz="1600" dirty="0">
                <a:solidFill>
                  <a:schemeClr val="tx2"/>
                </a:solidFill>
              </a:rPr>
              <a:t> le </a:t>
            </a:r>
            <a:r>
              <a:rPr lang="en-US" sz="1600" dirty="0" err="1">
                <a:solidFill>
                  <a:schemeClr val="tx2"/>
                </a:solidFill>
              </a:rPr>
              <a:t>classi</a:t>
            </a:r>
            <a:r>
              <a:rPr lang="en-US" sz="1600" dirty="0">
                <a:solidFill>
                  <a:schemeClr val="tx2"/>
                </a:solidFill>
              </a:rPr>
              <a:t> di </a:t>
            </a:r>
            <a:r>
              <a:rPr lang="en-US" sz="1600" dirty="0" err="1">
                <a:solidFill>
                  <a:schemeClr val="tx2"/>
                </a:solidFill>
              </a:rPr>
              <a:t>equivalenza</a:t>
            </a:r>
            <a:r>
              <a:rPr lang="en-US" sz="1600" dirty="0">
                <a:solidFill>
                  <a:schemeClr val="tx2"/>
                </a:solidFill>
              </a:rPr>
              <a:t> in </a:t>
            </a:r>
            <a:r>
              <a:rPr lang="en-US" sz="1600" dirty="0" err="1">
                <a:solidFill>
                  <a:schemeClr val="tx2"/>
                </a:solidFill>
              </a:rPr>
              <a:t>collaudi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effettivi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abbiamo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sviluppato</a:t>
            </a:r>
            <a:r>
              <a:rPr lang="en-US" sz="1600" dirty="0">
                <a:solidFill>
                  <a:schemeClr val="tx2"/>
                </a:solidFill>
              </a:rPr>
              <a:t> delle suite di test </a:t>
            </a:r>
            <a:r>
              <a:rPr lang="en-US" sz="1600" dirty="0" err="1">
                <a:solidFill>
                  <a:schemeClr val="tx2"/>
                </a:solidFill>
              </a:rPr>
              <a:t>automatici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basate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sul</a:t>
            </a:r>
            <a:r>
              <a:rPr lang="en-US" sz="1600" dirty="0">
                <a:solidFill>
                  <a:schemeClr val="tx2"/>
                </a:solidFill>
              </a:rPr>
              <a:t> framework Jest, </a:t>
            </a:r>
            <a:r>
              <a:rPr lang="en-US" sz="1600" dirty="0" err="1">
                <a:solidFill>
                  <a:schemeClr val="tx2"/>
                </a:solidFill>
              </a:rPr>
              <a:t>potenziato</a:t>
            </a:r>
            <a:r>
              <a:rPr lang="en-US" sz="1600" dirty="0">
                <a:solidFill>
                  <a:schemeClr val="tx2"/>
                </a:solidFill>
              </a:rPr>
              <a:t> dal </a:t>
            </a:r>
            <a:r>
              <a:rPr lang="en-US" sz="1600" dirty="0" err="1">
                <a:solidFill>
                  <a:schemeClr val="tx2"/>
                </a:solidFill>
              </a:rPr>
              <a:t>compilatore</a:t>
            </a:r>
            <a:r>
              <a:rPr lang="en-US" sz="1600" dirty="0">
                <a:solidFill>
                  <a:schemeClr val="tx2"/>
                </a:solidFill>
              </a:rPr>
              <a:t> SWC in Rust per </a:t>
            </a:r>
            <a:r>
              <a:rPr lang="en-US" sz="1600" dirty="0" err="1">
                <a:solidFill>
                  <a:schemeClr val="tx2"/>
                </a:solidFill>
              </a:rPr>
              <a:t>massimizzare</a:t>
            </a:r>
            <a:r>
              <a:rPr lang="en-US" sz="1600" dirty="0">
                <a:solidFill>
                  <a:schemeClr val="tx2"/>
                </a:solidFill>
              </a:rPr>
              <a:t> la </a:t>
            </a:r>
            <a:r>
              <a:rPr lang="en-US" sz="1600" dirty="0" err="1">
                <a:solidFill>
                  <a:schemeClr val="tx2"/>
                </a:solidFill>
              </a:rPr>
              <a:t>velocità</a:t>
            </a:r>
            <a:r>
              <a:rPr lang="en-US" sz="1600" dirty="0">
                <a:solidFill>
                  <a:schemeClr val="tx2"/>
                </a:solidFill>
              </a:rPr>
              <a:t> di </a:t>
            </a:r>
            <a:r>
              <a:rPr lang="en-US" sz="1600" dirty="0" err="1">
                <a:solidFill>
                  <a:schemeClr val="tx2"/>
                </a:solidFill>
              </a:rPr>
              <a:t>esecuzione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600" dirty="0">
                <a:solidFill>
                  <a:schemeClr val="tx2"/>
                </a:solidFill>
              </a:rPr>
              <a:t>È </a:t>
            </a:r>
            <a:r>
              <a:rPr lang="en-US" sz="1600" dirty="0" err="1">
                <a:solidFill>
                  <a:schemeClr val="tx2"/>
                </a:solidFill>
              </a:rPr>
              <a:t>stato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sovrascritto</a:t>
            </a:r>
            <a:r>
              <a:rPr lang="en-US" sz="1600" dirty="0">
                <a:solidFill>
                  <a:schemeClr val="tx2"/>
                </a:solidFill>
              </a:rPr>
              <a:t> in modo </a:t>
            </a:r>
            <a:r>
              <a:rPr lang="en-US" sz="1600" dirty="0" err="1">
                <a:solidFill>
                  <a:schemeClr val="tx2"/>
                </a:solidFill>
              </a:rPr>
              <a:t>fittizio</a:t>
            </a:r>
            <a:r>
              <a:rPr lang="en-US" sz="1600" dirty="0">
                <a:solidFill>
                  <a:schemeClr val="tx2"/>
                </a:solidFill>
              </a:rPr>
              <a:t> (Mocking) </a:t>
            </a:r>
            <a:r>
              <a:rPr lang="en-US" sz="1600" dirty="0" err="1">
                <a:solidFill>
                  <a:schemeClr val="tx2"/>
                </a:solidFill>
              </a:rPr>
              <a:t>l’oggetto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PrismaClient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tramite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jest.mock</a:t>
            </a:r>
            <a:r>
              <a:rPr lang="en-US" sz="1600" dirty="0">
                <a:solidFill>
                  <a:schemeClr val="tx2"/>
                </a:solidFill>
              </a:rPr>
              <a:t>(). </a:t>
            </a:r>
            <a:r>
              <a:rPr lang="en-US" sz="1600" dirty="0" err="1">
                <a:solidFill>
                  <a:schemeClr val="tx2"/>
                </a:solidFill>
              </a:rPr>
              <a:t>L'esecuzione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dei</a:t>
            </a:r>
            <a:r>
              <a:rPr lang="en-US" sz="1600" dirty="0">
                <a:solidFill>
                  <a:schemeClr val="tx2"/>
                </a:solidFill>
              </a:rPr>
              <a:t> test non </a:t>
            </a:r>
            <a:r>
              <a:rPr lang="en-US" sz="1600" dirty="0" err="1">
                <a:solidFill>
                  <a:schemeClr val="tx2"/>
                </a:solidFill>
              </a:rPr>
              <a:t>coinvolge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mai</a:t>
            </a:r>
            <a:r>
              <a:rPr lang="en-US" sz="1600" dirty="0">
                <a:solidFill>
                  <a:schemeClr val="tx2"/>
                </a:solidFill>
              </a:rPr>
              <a:t> il database </a:t>
            </a:r>
            <a:r>
              <a:rPr lang="en-US" sz="1600" dirty="0" err="1">
                <a:solidFill>
                  <a:schemeClr val="tx2"/>
                </a:solidFill>
              </a:rPr>
              <a:t>fisico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simulando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ritorni</a:t>
            </a:r>
            <a:r>
              <a:rPr lang="en-US" sz="1600" dirty="0">
                <a:solidFill>
                  <a:schemeClr val="tx2"/>
                </a:solidFill>
              </a:rPr>
              <a:t> in memoria.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600" dirty="0" err="1">
                <a:solidFill>
                  <a:schemeClr val="tx2"/>
                </a:solidFill>
              </a:rPr>
              <a:t>Vengono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validati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percorsi</a:t>
            </a:r>
            <a:r>
              <a:rPr lang="en-US" sz="1600" dirty="0">
                <a:solidFill>
                  <a:schemeClr val="tx2"/>
                </a:solidFill>
              </a:rPr>
              <a:t> di </a:t>
            </a:r>
            <a:r>
              <a:rPr lang="en-US" sz="1600" dirty="0" err="1">
                <a:solidFill>
                  <a:schemeClr val="tx2"/>
                </a:solidFill>
              </a:rPr>
              <a:t>errore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intercettando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rigetti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attesi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tramite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metodi</a:t>
            </a:r>
            <a:r>
              <a:rPr lang="en-US" sz="1600" dirty="0">
                <a:solidFill>
                  <a:schemeClr val="tx2"/>
                </a:solidFill>
              </a:rPr>
              <a:t> .</a:t>
            </a:r>
            <a:r>
              <a:rPr lang="en-US" sz="1600" dirty="0" err="1">
                <a:solidFill>
                  <a:schemeClr val="tx2"/>
                </a:solidFill>
              </a:rPr>
              <a:t>rejects.toThrow</a:t>
            </a:r>
            <a:r>
              <a:rPr lang="en-US" sz="1600" dirty="0">
                <a:solidFill>
                  <a:schemeClr val="tx2"/>
                </a:solidFill>
              </a:rPr>
              <a:t>()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600" dirty="0" err="1">
                <a:solidFill>
                  <a:schemeClr val="tx2"/>
                </a:solidFill>
              </a:rPr>
              <a:t>Vengono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usate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funzioni</a:t>
            </a:r>
            <a:r>
              <a:rPr lang="en-US" sz="1600" dirty="0">
                <a:solidFill>
                  <a:schemeClr val="tx2"/>
                </a:solidFill>
              </a:rPr>
              <a:t> per </a:t>
            </a:r>
            <a:r>
              <a:rPr lang="en-US" sz="1600" dirty="0" err="1">
                <a:solidFill>
                  <a:schemeClr val="tx2"/>
                </a:solidFill>
              </a:rPr>
              <a:t>accertare</a:t>
            </a:r>
            <a:r>
              <a:rPr lang="en-US" sz="1600" dirty="0">
                <a:solidFill>
                  <a:schemeClr val="tx2"/>
                </a:solidFill>
              </a:rPr>
              <a:t> il </a:t>
            </a:r>
            <a:r>
              <a:rPr lang="en-US" sz="1600" dirty="0" err="1">
                <a:solidFill>
                  <a:schemeClr val="tx2"/>
                </a:solidFill>
              </a:rPr>
              <a:t>corretto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comportamento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interno</a:t>
            </a:r>
            <a:r>
              <a:rPr lang="en-US" sz="1600" dirty="0">
                <a:solidFill>
                  <a:schemeClr val="tx2"/>
                </a:solidFill>
              </a:rPr>
              <a:t> del </a:t>
            </a:r>
            <a:r>
              <a:rPr lang="en-US" sz="1600" dirty="0" err="1">
                <a:solidFill>
                  <a:schemeClr val="tx2"/>
                </a:solidFill>
              </a:rPr>
              <a:t>sistema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verificando</a:t>
            </a:r>
            <a:r>
              <a:rPr lang="en-US" sz="1600" dirty="0">
                <a:solidFill>
                  <a:schemeClr val="tx2"/>
                </a:solidFill>
              </a:rPr>
              <a:t> ad </a:t>
            </a:r>
            <a:r>
              <a:rPr lang="en-US" sz="1600" dirty="0" err="1">
                <a:solidFill>
                  <a:schemeClr val="tx2"/>
                </a:solidFill>
              </a:rPr>
              <a:t>esempio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che</a:t>
            </a:r>
            <a:r>
              <a:rPr lang="en-US" sz="1600" dirty="0">
                <a:solidFill>
                  <a:schemeClr val="tx2"/>
                </a:solidFill>
              </a:rPr>
              <a:t> le </a:t>
            </a:r>
            <a:r>
              <a:rPr lang="en-US" sz="1600" dirty="0" err="1">
                <a:solidFill>
                  <a:schemeClr val="tx2"/>
                </a:solidFill>
              </a:rPr>
              <a:t>transazioni</a:t>
            </a:r>
            <a:r>
              <a:rPr lang="en-US" sz="1600" dirty="0">
                <a:solidFill>
                  <a:schemeClr val="tx2"/>
                </a:solidFill>
              </a:rPr>
              <a:t> ACID </a:t>
            </a:r>
            <a:r>
              <a:rPr lang="en-US" sz="1600" dirty="0" err="1">
                <a:solidFill>
                  <a:schemeClr val="tx2"/>
                </a:solidFill>
              </a:rPr>
              <a:t>vengano</a:t>
            </a:r>
            <a:r>
              <a:rPr lang="en-US" sz="1600" dirty="0">
                <a:solidFill>
                  <a:schemeClr val="tx2"/>
                </a:solidFill>
              </a:rPr>
              <a:t> invocate </a:t>
            </a:r>
            <a:r>
              <a:rPr lang="en-US" sz="1600" dirty="0" err="1">
                <a:solidFill>
                  <a:schemeClr val="tx2"/>
                </a:solidFill>
              </a:rPr>
              <a:t>esattamente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una</a:t>
            </a:r>
            <a:r>
              <a:rPr lang="en-US" sz="1600" dirty="0">
                <a:solidFill>
                  <a:schemeClr val="tx2"/>
                </a:solidFill>
              </a:rPr>
              <a:t> volta (</a:t>
            </a:r>
            <a:r>
              <a:rPr lang="en-US" sz="1600" dirty="0" err="1">
                <a:solidFill>
                  <a:schemeClr val="tx2"/>
                </a:solidFill>
              </a:rPr>
              <a:t>toHaveBeenCalledTimes</a:t>
            </a:r>
            <a:r>
              <a:rPr lang="en-US" sz="1600" dirty="0">
                <a:solidFill>
                  <a:schemeClr val="tx2"/>
                </a:solidFill>
              </a:rPr>
              <a:t>(1))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ECED5B6-11EC-394F-7FA3-7282A689A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951" y="1903390"/>
            <a:ext cx="5175680" cy="263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3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1CF96E-A51C-C378-5244-06555E38E6E6}"/>
              </a:ext>
            </a:extLst>
          </p:cNvPr>
          <p:cNvSpPr txBox="1"/>
          <p:nvPr/>
        </p:nvSpPr>
        <p:spPr>
          <a:xfrm>
            <a:off x="581192" y="1507414"/>
            <a:ext cx="5120255" cy="39033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Usability Testing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5CB1A0F-5561-6808-F397-782A8438F709}"/>
              </a:ext>
            </a:extLst>
          </p:cNvPr>
          <p:cNvSpPr txBox="1"/>
          <p:nvPr/>
        </p:nvSpPr>
        <p:spPr>
          <a:xfrm>
            <a:off x="6282639" y="1507415"/>
            <a:ext cx="5210007" cy="3903331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dirty="0">
                <a:solidFill>
                  <a:schemeClr val="tx2"/>
                </a:solidFill>
              </a:rPr>
              <a:t>Sono </a:t>
            </a:r>
            <a:r>
              <a:rPr lang="en-US" sz="2000" dirty="0" err="1">
                <a:solidFill>
                  <a:schemeClr val="tx2"/>
                </a:solidFill>
              </a:rPr>
              <a:t>stati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coinvolti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utenti</a:t>
            </a:r>
            <a:r>
              <a:rPr lang="en-US" sz="2000" dirty="0">
                <a:solidFill>
                  <a:schemeClr val="tx2"/>
                </a:solidFill>
              </a:rPr>
              <a:t> di diverse </a:t>
            </a:r>
            <a:r>
              <a:rPr lang="en-US" sz="2000" dirty="0" err="1">
                <a:solidFill>
                  <a:schemeClr val="tx2"/>
                </a:solidFill>
              </a:rPr>
              <a:t>classi</a:t>
            </a:r>
            <a:r>
              <a:rPr lang="en-US" sz="2000" dirty="0">
                <a:solidFill>
                  <a:schemeClr val="tx2"/>
                </a:solidFill>
              </a:rPr>
              <a:t> e con </a:t>
            </a:r>
            <a:r>
              <a:rPr lang="en-US" sz="2000" dirty="0" err="1">
                <a:solidFill>
                  <a:schemeClr val="tx2"/>
                </a:solidFill>
              </a:rPr>
              <a:t>differenti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competenze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tecniche</a:t>
            </a:r>
            <a:r>
              <a:rPr lang="en-US" sz="2000" dirty="0">
                <a:solidFill>
                  <a:schemeClr val="tx2"/>
                </a:solidFill>
              </a:rPr>
              <a:t>, per </a:t>
            </a:r>
            <a:r>
              <a:rPr lang="en-US" sz="2000" dirty="0" err="1">
                <a:solidFill>
                  <a:schemeClr val="tx2"/>
                </a:solidFill>
              </a:rPr>
              <a:t>osservare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l’interazione</a:t>
            </a:r>
            <a:r>
              <a:rPr lang="en-US" sz="2000" dirty="0">
                <a:solidFill>
                  <a:schemeClr val="tx2"/>
                </a:solidFill>
              </a:rPr>
              <a:t> con </a:t>
            </a:r>
            <a:r>
              <a:rPr lang="en-US" sz="2000" dirty="0" err="1">
                <a:solidFill>
                  <a:schemeClr val="tx2"/>
                </a:solidFill>
              </a:rPr>
              <a:t>l’UI</a:t>
            </a:r>
            <a:r>
              <a:rPr lang="en-US" sz="2000" dirty="0">
                <a:solidFill>
                  <a:schemeClr val="tx2"/>
                </a:solidFill>
              </a:rPr>
              <a:t> e </a:t>
            </a:r>
            <a:r>
              <a:rPr lang="en-US" sz="2000" dirty="0" err="1">
                <a:solidFill>
                  <a:schemeClr val="tx2"/>
                </a:solidFill>
              </a:rPr>
              <a:t>raccogliere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dati</a:t>
            </a:r>
            <a:r>
              <a:rPr lang="en-US" sz="2000" dirty="0">
                <a:solidFill>
                  <a:schemeClr val="tx2"/>
                </a:solidFill>
              </a:rPr>
              <a:t>. Ai </a:t>
            </a:r>
            <a:r>
              <a:rPr lang="en-US" sz="2000" dirty="0" err="1">
                <a:solidFill>
                  <a:schemeClr val="tx2"/>
                </a:solidFill>
              </a:rPr>
              <a:t>partecipanti</a:t>
            </a:r>
            <a:r>
              <a:rPr lang="en-US" sz="2000" dirty="0">
                <a:solidFill>
                  <a:schemeClr val="tx2"/>
                </a:solidFill>
              </a:rPr>
              <a:t> è </a:t>
            </a:r>
            <a:r>
              <a:rPr lang="en-US" sz="2000" dirty="0" err="1">
                <a:solidFill>
                  <a:schemeClr val="tx2"/>
                </a:solidFill>
              </a:rPr>
              <a:t>stato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richiesto</a:t>
            </a:r>
            <a:r>
              <a:rPr lang="en-US" sz="2000" dirty="0">
                <a:solidFill>
                  <a:schemeClr val="tx2"/>
                </a:solidFill>
              </a:rPr>
              <a:t> di: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err="1">
                <a:solidFill>
                  <a:schemeClr val="tx2"/>
                </a:solidFill>
              </a:rPr>
              <a:t>Creare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una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nuova</a:t>
            </a:r>
            <a:r>
              <a:rPr lang="en-US" sz="2000" dirty="0">
                <a:solidFill>
                  <a:schemeClr val="tx2"/>
                </a:solidFill>
              </a:rPr>
              <a:t> issue </a:t>
            </a:r>
            <a:r>
              <a:rPr lang="en-US" sz="2000" dirty="0" err="1">
                <a:solidFill>
                  <a:schemeClr val="tx2"/>
                </a:solidFill>
              </a:rPr>
              <a:t>inserendo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titolo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tipo</a:t>
            </a:r>
            <a:r>
              <a:rPr lang="en-US" sz="2000" dirty="0">
                <a:solidFill>
                  <a:schemeClr val="tx2"/>
                </a:solidFill>
              </a:rPr>
              <a:t> e </a:t>
            </a:r>
            <a:r>
              <a:rPr lang="en-US" sz="2000" dirty="0" err="1">
                <a:solidFill>
                  <a:schemeClr val="tx2"/>
                </a:solidFill>
              </a:rPr>
              <a:t>priorità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err="1">
                <a:solidFill>
                  <a:schemeClr val="tx2"/>
                </a:solidFill>
              </a:rPr>
              <a:t>Filtrare</a:t>
            </a:r>
            <a:r>
              <a:rPr lang="en-US" sz="2000" dirty="0">
                <a:solidFill>
                  <a:schemeClr val="tx2"/>
                </a:solidFill>
              </a:rPr>
              <a:t> la Board per </a:t>
            </a:r>
            <a:r>
              <a:rPr lang="en-US" sz="2000" dirty="0" err="1">
                <a:solidFill>
                  <a:schemeClr val="tx2"/>
                </a:solidFill>
              </a:rPr>
              <a:t>visualizzare</a:t>
            </a:r>
            <a:r>
              <a:rPr lang="en-US" sz="2000" dirty="0">
                <a:solidFill>
                  <a:schemeClr val="tx2"/>
                </a:solidFill>
              </a:rPr>
              <a:t> solo </a:t>
            </a:r>
            <a:r>
              <a:rPr lang="en-US" sz="2000" dirty="0" err="1">
                <a:solidFill>
                  <a:schemeClr val="tx2"/>
                </a:solidFill>
              </a:rPr>
              <a:t>i</a:t>
            </a:r>
            <a:r>
              <a:rPr lang="en-US" sz="2000" dirty="0">
                <a:solidFill>
                  <a:schemeClr val="tx2"/>
                </a:solidFill>
              </a:rPr>
              <a:t> task ”In Progress”.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err="1">
                <a:solidFill>
                  <a:schemeClr val="tx2"/>
                </a:solidFill>
              </a:rPr>
              <a:t>Aggiornare</a:t>
            </a:r>
            <a:r>
              <a:rPr lang="en-US" sz="2000" dirty="0">
                <a:solidFill>
                  <a:schemeClr val="tx2"/>
                </a:solidFill>
              </a:rPr>
              <a:t> lo </a:t>
            </a:r>
            <a:r>
              <a:rPr lang="en-US" sz="2000" dirty="0" err="1">
                <a:solidFill>
                  <a:schemeClr val="tx2"/>
                </a:solidFill>
              </a:rPr>
              <a:t>stato</a:t>
            </a:r>
            <a:r>
              <a:rPr lang="en-US" sz="2000" dirty="0">
                <a:solidFill>
                  <a:schemeClr val="tx2"/>
                </a:solidFill>
              </a:rPr>
              <a:t> di un task e </a:t>
            </a:r>
            <a:r>
              <a:rPr lang="en-US" sz="2000" dirty="0" err="1">
                <a:solidFill>
                  <a:schemeClr val="tx2"/>
                </a:solidFill>
              </a:rPr>
              <a:t>verificare</a:t>
            </a:r>
            <a:r>
              <a:rPr lang="en-US" sz="2000" dirty="0">
                <a:solidFill>
                  <a:schemeClr val="tx2"/>
                </a:solidFill>
              </a:rPr>
              <a:t> la </a:t>
            </a:r>
            <a:r>
              <a:rPr lang="en-US" sz="2000" dirty="0" err="1">
                <a:solidFill>
                  <a:schemeClr val="tx2"/>
                </a:solidFill>
              </a:rPr>
              <a:t>cronologia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A779D74-157E-1960-CCC0-666757B00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04" y="3110061"/>
            <a:ext cx="4832581" cy="146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9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56D4C202-4D58-7EC0-2AA7-25B8EEC09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4268" y="2819123"/>
            <a:ext cx="7623464" cy="121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2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Dividendi">
  <a:themeElements>
    <a:clrScheme name="Dividend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i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i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68eedc-442f-402c-85e5-9fd86d46c65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C2A25030C9CA4180DF799D8DD9D415" ma:contentTypeVersion="7" ma:contentTypeDescription="Create a new document." ma:contentTypeScope="" ma:versionID="bbc8f229c468af25ba40b55215aac3d3">
  <xsd:schema xmlns:xsd="http://www.w3.org/2001/XMLSchema" xmlns:xs="http://www.w3.org/2001/XMLSchema" xmlns:p="http://schemas.microsoft.com/office/2006/metadata/properties" xmlns:ns3="e068eedc-442f-402c-85e5-9fd86d46c652" xmlns:ns4="b4d29032-370f-4bfe-843d-36a7baaf2270" targetNamespace="http://schemas.microsoft.com/office/2006/metadata/properties" ma:root="true" ma:fieldsID="ede74b1730b4168da89069ecd4ac7f7f" ns3:_="" ns4:_="">
    <xsd:import namespace="e068eedc-442f-402c-85e5-9fd86d46c652"/>
    <xsd:import namespace="b4d29032-370f-4bfe-843d-36a7baaf22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8eedc-442f-402c-85e5-9fd86d46c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29032-370f-4bfe-843d-36a7baaf227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DDFFCD-6DE8-4F36-A433-DA3DBED00B7F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e068eedc-442f-402c-85e5-9fd86d46c652"/>
    <ds:schemaRef ds:uri="http://schemas.microsoft.com/office/infopath/2007/PartnerControls"/>
    <ds:schemaRef ds:uri="b4d29032-370f-4bfe-843d-36a7baaf2270"/>
  </ds:schemaRefs>
</ds:datastoreItem>
</file>

<file path=customXml/itemProps2.xml><?xml version="1.0" encoding="utf-8"?>
<ds:datastoreItem xmlns:ds="http://schemas.openxmlformats.org/officeDocument/2006/customXml" ds:itemID="{078C1528-A432-4E0E-86DB-85AE92632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8eedc-442f-402c-85e5-9fd86d46c652"/>
    <ds:schemaRef ds:uri="b4d29032-370f-4bfe-843d-36a7baaf22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1EFB96-08A4-4734-813A-7CCADC56FA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TM03457464[[fn=Dividendi]]</Template>
  <TotalTime>621</TotalTime>
  <Words>1202</Words>
  <Application>Microsoft Office PowerPoint</Application>
  <PresentationFormat>Widescreen</PresentationFormat>
  <Paragraphs>110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0" baseType="lpstr">
      <vt:lpstr>Arial</vt:lpstr>
      <vt:lpstr>Gill Sans MT</vt:lpstr>
      <vt:lpstr>Wingdings</vt:lpstr>
      <vt:lpstr>Wingdings 2</vt:lpstr>
      <vt:lpstr>Dividendi</vt:lpstr>
      <vt:lpstr>BugBoard26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Architettura Client-Server</vt:lpstr>
      <vt:lpstr>Presentazione standard di PowerPoint</vt:lpstr>
      <vt:lpstr>Presentazione standard di PowerPoint</vt:lpstr>
      <vt:lpstr>Sicurezza by Design e Validazione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SALVATORE INDOLINO</dc:creator>
  <cp:lastModifiedBy>SALVATORE INDOLINO</cp:lastModifiedBy>
  <cp:revision>6</cp:revision>
  <dcterms:created xsi:type="dcterms:W3CDTF">2026-08-24T16:42:01Z</dcterms:created>
  <dcterms:modified xsi:type="dcterms:W3CDTF">2026-09-04T13:57:42Z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0x010100E9C2A25030C9CA4180DF799D8DD9D415</vt:lpwstr>
  </property>
  <property fmtid="{D5CDD505-2E9C-101B-9397-08002B2CF9AE}" pid="3" name="MSIP_Label_2ad0b24d-6422-44b0-b3de-abb3a9e8c81a_Enabled">
    <vt:lpwstr>true</vt:lpwstr>
  </property>
  <property fmtid="{D5CDD505-2E9C-101B-9397-08002B2CF9AE}" pid="4" name="MSIP_Label_2ad0b24d-6422-44b0-b3de-abb3a9e8c81a_SetDate">
    <vt:lpwstr>2026-08-24T17:00:19Z</vt:lpwstr>
  </property>
  <property fmtid="{D5CDD505-2E9C-101B-9397-08002B2CF9AE}" pid="5" name="MSIP_Label_2ad0b24d-6422-44b0-b3de-abb3a9e8c81a_Method">
    <vt:lpwstr>Standard</vt:lpwstr>
  </property>
  <property fmtid="{D5CDD505-2E9C-101B-9397-08002B2CF9AE}" pid="6" name="MSIP_Label_2ad0b24d-6422-44b0-b3de-abb3a9e8c81a_Name">
    <vt:lpwstr>defa4170-0d19-0005-0004-bc88714345d2</vt:lpwstr>
  </property>
  <property fmtid="{D5CDD505-2E9C-101B-9397-08002B2CF9AE}" pid="7" name="MSIP_Label_2ad0b24d-6422-44b0-b3de-abb3a9e8c81a_SiteId">
    <vt:lpwstr>2fcfe26a-bb62-46b0-b1e3-28f9da0c45fd</vt:lpwstr>
  </property>
  <property fmtid="{D5CDD505-2E9C-101B-9397-08002B2CF9AE}" pid="8" name="MSIP_Label_2ad0b24d-6422-44b0-b3de-abb3a9e8c81a_ActionId">
    <vt:lpwstr>39f6c6dd-2628-424c-a2c7-304c76471450</vt:lpwstr>
  </property>
  <property fmtid="{D5CDD505-2E9C-101B-9397-08002B2CF9AE}" pid="9" name="MSIP_Label_2ad0b24d-6422-44b0-b3de-abb3a9e8c81a_ContentBits">
    <vt:lpwstr>0</vt:lpwstr>
  </property>
  <property fmtid="{D5CDD505-2E9C-101B-9397-08002B2CF9AE}" pid="10" name="MSIP_Label_2ad0b24d-6422-44b0-b3de-abb3a9e8c81a_Tag">
    <vt:lpwstr>10, 3, 0, 1</vt:lpwstr>
  </property>
</Properties>
</file>